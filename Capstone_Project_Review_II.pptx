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handoutMasterIdLst>
    <p:handoutMasterId r:id="rId18"/>
  </p:handoutMasterIdLst>
  <p:sldIdLst>
    <p:sldId id="531" r:id="rId2"/>
    <p:sldId id="289" r:id="rId3"/>
    <p:sldId id="532" r:id="rId4"/>
    <p:sldId id="294" r:id="rId5"/>
    <p:sldId id="534" r:id="rId6"/>
    <p:sldId id="535" r:id="rId7"/>
    <p:sldId id="538" r:id="rId8"/>
    <p:sldId id="539" r:id="rId9"/>
    <p:sldId id="302" r:id="rId10"/>
    <p:sldId id="303" r:id="rId11"/>
    <p:sldId id="540" r:id="rId12"/>
    <p:sldId id="536" r:id="rId13"/>
    <p:sldId id="537" r:id="rId14"/>
    <p:sldId id="307" r:id="rId15"/>
    <p:sldId id="301" r:id="rId16"/>
  </p:sldIdLst>
  <p:sldSz cx="12192000" cy="6858000"/>
  <p:notesSz cx="6858000" cy="9144000"/>
  <p:embeddedFontLst>
    <p:embeddedFont>
      <p:font typeface="Aharoni" panose="02010803020104030203" pitchFamily="2" charset="-79"/>
      <p:bold r:id="rId19"/>
    </p:embeddedFont>
    <p:embeddedFont>
      <p:font typeface="Montserrat" panose="00000500000000000000" pitchFamily="2" charset="0"/>
      <p:regular r:id="rId20"/>
      <p:bold r:id="rId21"/>
      <p:italic r:id="rId22"/>
      <p:boldItalic r:id="rId23"/>
    </p:embeddedFont>
    <p:embeddedFont>
      <p:font typeface="Montserrat Medium" panose="00000600000000000000" pitchFamily="2" charset="0"/>
      <p:regular r:id="rId24"/>
      <p:italic r:id="rId25"/>
    </p:embeddedFont>
    <p:embeddedFont>
      <p:font typeface="Open Sans" panose="020B0606030504020204" pitchFamily="34" charset="0"/>
      <p:regular r:id="rId26"/>
      <p:bold r:id="rId27"/>
      <p:italic r:id="rId28"/>
      <p:boldItalic r:id="rId29"/>
    </p:embeddedFont>
    <p:embeddedFont>
      <p:font typeface="Plus Jakarta Sans" panose="020B0604020202020204" charset="0"/>
      <p:regular r:id="rId30"/>
      <p:bold r:id="rId31"/>
      <p:italic r:id="rId32"/>
      <p:boldItalic r:id="rId33"/>
    </p:embeddedFont>
    <p:embeddedFont>
      <p:font typeface="Sitka Small Semibold" pitchFamily="2" charset="0"/>
      <p:bold r:id="rId34"/>
      <p:boldItalic r:id="rId35"/>
    </p:embeddedFont>
    <p:embeddedFont>
      <p:font typeface="Sitka Text Semibold" pitchFamily="2" charset="0"/>
      <p:bold r:id="rId36"/>
      <p:boldItalic r:id="rId37"/>
    </p:embeddedFont>
    <p:embeddedFont>
      <p:font typeface="Verdana" panose="020B0604030504040204" pitchFamily="34" charset="0"/>
      <p:regular r:id="rId38"/>
      <p:bold r:id="rId39"/>
      <p:italic r:id="rId40"/>
      <p:boldItalic r:id="rId41"/>
    </p:embeddedFont>
  </p:embeddedFontLst>
  <p:custDataLst>
    <p:tags r:id="rId4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7D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0467" autoAdjust="0"/>
  </p:normalViewPr>
  <p:slideViewPr>
    <p:cSldViewPr snapToGrid="0">
      <p:cViewPr varScale="1">
        <p:scale>
          <a:sx n="57" d="100"/>
          <a:sy n="57" d="100"/>
        </p:scale>
        <p:origin x="1016" y="52"/>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gs" Target="tags/tag1.xml"/><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font" Target="fonts/font23.fntdata"/><Relationship Id="rId88" Type="http://schemas.openxmlformats.org/officeDocument/2006/relationships/commentAuthors" Target="commentAuthors.xml"/><Relationship Id="rId9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20-11-2025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10</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460015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9">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7" r:id="rId3"/>
    <p:sldLayoutId id="2147483658" r:id="rId4"/>
    <p:sldLayoutId id="2147483660" r:id="rId5"/>
    <p:sldLayoutId id="2147483661" r:id="rId6"/>
    <p:sldLayoutId id="214748367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52379"/>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08354" y="4742585"/>
            <a:ext cx="5696560"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0" marR="0" lvl="0" indent="0" rtl="0">
              <a:lnSpc>
                <a:spcPct val="100000"/>
              </a:lnSpc>
              <a:spcBef>
                <a:spcPts val="0"/>
              </a:spcBef>
              <a:spcAft>
                <a:spcPts val="0"/>
              </a:spcAft>
              <a:buClr>
                <a:srgbClr val="000000"/>
              </a:buClr>
              <a:buSzPts val="1400"/>
              <a:buFont typeface="Arial"/>
              <a:buNone/>
            </a:pPr>
            <a:r>
              <a:rPr lang="en-US" b="1" dirty="0">
                <a:solidFill>
                  <a:schemeClr val="dk1"/>
                </a:solidFill>
                <a:latin typeface="Montserrat Medium"/>
                <a:sym typeface="Montserrat Medium"/>
              </a:rPr>
              <a:t>BU22EECE0100088</a:t>
            </a:r>
            <a:r>
              <a:rPr lang="en-US" sz="1400" b="1" i="0" u="none" strike="noStrike" cap="none" dirty="0">
                <a:solidFill>
                  <a:schemeClr val="dk1"/>
                </a:solidFill>
                <a:latin typeface="Montserrat Medium"/>
                <a:ea typeface="Arial"/>
                <a:cs typeface="Arial"/>
                <a:sym typeface="Montserrat Medium"/>
              </a:rPr>
              <a:t>  -  S </a:t>
            </a:r>
            <a:r>
              <a:rPr lang="en-US" sz="1400" b="1" i="0" u="none" strike="noStrike" cap="none" dirty="0" err="1">
                <a:solidFill>
                  <a:schemeClr val="dk1"/>
                </a:solidFill>
                <a:latin typeface="Montserrat Medium"/>
                <a:ea typeface="Arial"/>
                <a:cs typeface="Arial"/>
                <a:sym typeface="Montserrat Medium"/>
              </a:rPr>
              <a:t>Sheshu</a:t>
            </a:r>
            <a:endParaRPr lang="en-US" sz="1400" b="1" i="0" u="none" strike="noStrike" cap="none" dirty="0">
              <a:solidFill>
                <a:schemeClr val="dk1"/>
              </a:solidFill>
              <a:latin typeface="Montserrat Medium"/>
              <a:ea typeface="Arial"/>
              <a:cs typeface="Arial"/>
              <a:sym typeface="Montserrat Medium"/>
            </a:endParaRPr>
          </a:p>
          <a:p>
            <a:pPr marL="0" marR="0" lvl="0" indent="0" rtl="0">
              <a:lnSpc>
                <a:spcPct val="100000"/>
              </a:lnSpc>
              <a:spcBef>
                <a:spcPts val="0"/>
              </a:spcBef>
              <a:spcAft>
                <a:spcPts val="0"/>
              </a:spcAft>
              <a:buClr>
                <a:srgbClr val="000000"/>
              </a:buClr>
              <a:buSzPts val="1400"/>
              <a:buFont typeface="Arial"/>
              <a:buNone/>
            </a:pPr>
            <a:r>
              <a:rPr lang="en-US" b="1" dirty="0">
                <a:solidFill>
                  <a:schemeClr val="dk1"/>
                </a:solidFill>
                <a:latin typeface="Montserrat Medium"/>
                <a:sym typeface="Montserrat Medium"/>
              </a:rPr>
              <a:t>BU22EECE0100444  -    Prajwal Kumar</a:t>
            </a:r>
          </a:p>
          <a:p>
            <a:pPr marL="0" marR="0" lvl="0" indent="0" rtl="0">
              <a:lnSpc>
                <a:spcPct val="100000"/>
              </a:lnSpc>
              <a:spcBef>
                <a:spcPts val="0"/>
              </a:spcBef>
              <a:spcAft>
                <a:spcPts val="0"/>
              </a:spcAft>
              <a:buClr>
                <a:srgbClr val="000000"/>
              </a:buClr>
              <a:buSzPts val="1400"/>
              <a:buFont typeface="Arial"/>
              <a:buNone/>
            </a:pPr>
            <a:r>
              <a:rPr lang="en-US" b="1" dirty="0">
                <a:solidFill>
                  <a:schemeClr val="dk1"/>
                </a:solidFill>
                <a:latin typeface="Montserrat Medium"/>
                <a:sym typeface="Montserrat Medium"/>
              </a:rPr>
              <a:t>BU22EECE0100447  - Shravani A</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156700" y="5040405"/>
            <a:ext cx="3092302"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Kshitij Shakya</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Subhashish Tiwari</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1678897" y="279638"/>
            <a:ext cx="7884827" cy="1384954"/>
          </a:xfrm>
          <a:prstGeom prst="rect">
            <a:avLst/>
          </a:prstGeom>
          <a:noFill/>
          <a:ln>
            <a:noFill/>
          </a:ln>
        </p:spPr>
        <p:txBody>
          <a:bodyPr spcFirstLastPara="1" wrap="square" lIns="91425" tIns="45700" rIns="91425" bIns="45700" anchor="t" anchorCtr="0">
            <a:spAutoFit/>
          </a:bodyPr>
          <a:lstStyle/>
          <a:p>
            <a:pPr algn="ctr"/>
            <a:r>
              <a:rPr lang="en-US" sz="2800" b="1" dirty="0">
                <a:solidFill>
                  <a:schemeClr val="accent4">
                    <a:lumMod val="75000"/>
                  </a:schemeClr>
                </a:solidFill>
              </a:rPr>
              <a:t>Cloud Monitoring Heart Beat Sensor Data for Worker and Soldier in Hostile Conditions</a:t>
            </a:r>
            <a:endParaRPr lang="en-US" sz="2800" dirty="0">
              <a:solidFill>
                <a:schemeClr val="accent4">
                  <a:lumMod val="75000"/>
                </a:schemeClr>
              </a:solidFill>
            </a:endParaRPr>
          </a:p>
          <a:p>
            <a:pPr marL="0" marR="0" lvl="0" indent="0" algn="ctr" rtl="0">
              <a:spcBef>
                <a:spcPts val="0"/>
              </a:spcBef>
              <a:spcAft>
                <a:spcPts val="0"/>
              </a:spcAft>
              <a:buNone/>
            </a:pPr>
            <a:endParaRPr lang="en-US" sz="2800" dirty="0">
              <a:solidFill>
                <a:schemeClr val="accent4">
                  <a:lumMod val="75000"/>
                </a:schemeClr>
              </a:solidFill>
            </a:endParaRP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a:t>
            </a: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795680" y="1092788"/>
            <a:ext cx="9943179" cy="2800767"/>
          </a:xfrm>
          <a:prstGeom prst="rect">
            <a:avLst/>
          </a:prstGeom>
          <a:noFill/>
        </p:spPr>
        <p:txBody>
          <a:bodyPr wrap="square" rtlCol="0">
            <a:spAutoFit/>
          </a:bodyPr>
          <a:lstStyle/>
          <a:p>
            <a:r>
              <a:rPr lang="en-US" sz="1600" dirty="0">
                <a:latin typeface="Sitka Small Semibold" pitchFamily="2" charset="0"/>
              </a:rPr>
              <a:t>The objective of this project is to design and implement a reliable </a:t>
            </a:r>
            <a:r>
              <a:rPr lang="en-US" sz="1600" b="1" dirty="0">
                <a:latin typeface="Sitka Small Semibold" pitchFamily="2" charset="0"/>
              </a:rPr>
              <a:t>cloud-based heart rate monitoring system</a:t>
            </a:r>
            <a:r>
              <a:rPr lang="en-US" sz="1600" dirty="0">
                <a:latin typeface="Sitka Small Semibold" pitchFamily="2" charset="0"/>
              </a:rPr>
              <a:t> that continuously measures and analyzes the heartbeat of workers and soldiers operating in </a:t>
            </a:r>
            <a:r>
              <a:rPr lang="en-US" sz="1600" b="1" dirty="0">
                <a:latin typeface="Sitka Small Semibold" pitchFamily="2" charset="0"/>
              </a:rPr>
              <a:t>hostile or remote environments</a:t>
            </a:r>
            <a:r>
              <a:rPr lang="en-US" sz="1600" dirty="0">
                <a:latin typeface="Sitka Small Semibold" pitchFamily="2" charset="0"/>
              </a:rPr>
              <a:t>. By integrating pulse sensors with IoT platforms, the system aims to:</a:t>
            </a:r>
          </a:p>
          <a:p>
            <a:pPr marL="285750" indent="-285750">
              <a:buFont typeface="Wingdings" panose="05000000000000000000" pitchFamily="2" charset="2"/>
              <a:buChar char="§"/>
            </a:pPr>
            <a:r>
              <a:rPr lang="en-US" sz="1600" dirty="0">
                <a:latin typeface="Sitka Small Semibold" pitchFamily="2" charset="0"/>
              </a:rPr>
              <a:t>Ensure </a:t>
            </a:r>
            <a:r>
              <a:rPr lang="en-US" sz="1600" b="1" dirty="0">
                <a:latin typeface="Sitka Small Semibold" pitchFamily="2" charset="0"/>
              </a:rPr>
              <a:t>real-time monitoring</a:t>
            </a:r>
            <a:r>
              <a:rPr lang="en-US" sz="1600" dirty="0">
                <a:latin typeface="Sitka Small Semibold" pitchFamily="2" charset="0"/>
              </a:rPr>
              <a:t> of vital signs.</a:t>
            </a:r>
          </a:p>
          <a:p>
            <a:pPr marL="285750" indent="-285750">
              <a:buFont typeface="Wingdings" panose="05000000000000000000" pitchFamily="2" charset="2"/>
              <a:buChar char="§"/>
            </a:pPr>
            <a:r>
              <a:rPr lang="en-US" sz="1600" dirty="0">
                <a:latin typeface="Sitka Small Semibold" pitchFamily="2" charset="0"/>
              </a:rPr>
              <a:t>Enable </a:t>
            </a:r>
            <a:r>
              <a:rPr lang="en-US" sz="1600" b="1" dirty="0">
                <a:latin typeface="Sitka Small Semibold" pitchFamily="2" charset="0"/>
              </a:rPr>
              <a:t>remote access</a:t>
            </a:r>
            <a:r>
              <a:rPr lang="en-US" sz="1600" dirty="0">
                <a:latin typeface="Sitka Small Semibold" pitchFamily="2" charset="0"/>
              </a:rPr>
              <a:t> to health data through cloud storage.</a:t>
            </a:r>
          </a:p>
          <a:p>
            <a:pPr marL="285750" indent="-285750">
              <a:buFont typeface="Wingdings" panose="05000000000000000000" pitchFamily="2" charset="2"/>
              <a:buChar char="§"/>
            </a:pPr>
            <a:r>
              <a:rPr lang="en-US" sz="1600" dirty="0">
                <a:latin typeface="Sitka Small Semibold" pitchFamily="2" charset="0"/>
              </a:rPr>
              <a:t>Provide </a:t>
            </a:r>
            <a:r>
              <a:rPr lang="en-US" sz="1600" b="1" dirty="0">
                <a:latin typeface="Sitka Small Semibold" pitchFamily="2" charset="0"/>
              </a:rPr>
              <a:t>early alerts</a:t>
            </a:r>
            <a:r>
              <a:rPr lang="en-US" sz="1600" dirty="0">
                <a:latin typeface="Sitka Small Semibold" pitchFamily="2" charset="0"/>
              </a:rPr>
              <a:t> in case of abnormal heart activity.</a:t>
            </a:r>
          </a:p>
          <a:p>
            <a:pPr marL="285750" indent="-285750">
              <a:buFont typeface="Wingdings" panose="05000000000000000000" pitchFamily="2" charset="2"/>
              <a:buChar char="§"/>
            </a:pPr>
            <a:r>
              <a:rPr lang="en-US" sz="1600" dirty="0">
                <a:latin typeface="Sitka Small Semibold" pitchFamily="2" charset="0"/>
              </a:rPr>
              <a:t>Enhance </a:t>
            </a:r>
            <a:r>
              <a:rPr lang="en-US" sz="1600" b="1" dirty="0">
                <a:latin typeface="Sitka Small Semibold" pitchFamily="2" charset="0"/>
              </a:rPr>
              <a:t>safety, decision-making, and rapid medical response</a:t>
            </a:r>
            <a:r>
              <a:rPr lang="en-US" sz="1600" dirty="0">
                <a:latin typeface="Sitka Small Semibold" pitchFamily="2" charset="0"/>
              </a:rPr>
              <a:t> in high-risk conditions where traditional healthcare access is limited.</a:t>
            </a:r>
          </a:p>
          <a:p>
            <a:pPr marL="285750" indent="-285750">
              <a:buFont typeface="Wingdings" panose="05000000000000000000" pitchFamily="2" charset="2"/>
              <a:buChar char="§"/>
            </a:pPr>
            <a:endParaRPr lang="en-US" sz="1600" dirty="0">
              <a:latin typeface="Sitka Small Semibold" pitchFamily="2" charset="0"/>
            </a:endParaRPr>
          </a:p>
          <a:p>
            <a:endParaRPr lang="en-IN" sz="1600" dirty="0">
              <a:latin typeface="Sitka Small Semibold" pitchFamily="2"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00123" y="3803673"/>
            <a:ext cx="9943179" cy="2677656"/>
          </a:xfrm>
          <a:prstGeom prst="rect">
            <a:avLst/>
          </a:prstGeom>
          <a:noFill/>
        </p:spPr>
        <p:txBody>
          <a:bodyPr wrap="square" rtlCol="0">
            <a:spAutoFit/>
          </a:bodyPr>
          <a:lstStyle/>
          <a:p>
            <a:pPr marL="285750" indent="-285750">
              <a:buFont typeface="Wingdings" panose="05000000000000000000" pitchFamily="2" charset="2"/>
              <a:buChar char="§"/>
            </a:pPr>
            <a:r>
              <a:rPr lang="en-US" b="1" dirty="0">
                <a:latin typeface="Sitka Small Semibold" pitchFamily="2" charset="0"/>
              </a:rPr>
              <a:t>Main Goals</a:t>
            </a:r>
          </a:p>
          <a:p>
            <a:pPr marL="285750" indent="-285750">
              <a:buFont typeface="Wingdings" panose="05000000000000000000" pitchFamily="2" charset="2"/>
              <a:buChar char="§"/>
            </a:pPr>
            <a:r>
              <a:rPr lang="en-US" dirty="0">
                <a:latin typeface="Sitka Small Semibold" pitchFamily="2" charset="0"/>
              </a:rPr>
              <a:t>Continuous monitoring of heart rate using pulse sensors.</a:t>
            </a:r>
          </a:p>
          <a:p>
            <a:pPr marL="285750" indent="-285750">
              <a:buFont typeface="Wingdings" panose="05000000000000000000" pitchFamily="2" charset="2"/>
              <a:buChar char="§"/>
            </a:pPr>
            <a:r>
              <a:rPr lang="en-US" dirty="0">
                <a:latin typeface="Sitka Small Semibold" pitchFamily="2" charset="0"/>
              </a:rPr>
              <a:t>Real-time transmission of heartbeat data to the cloud for remote access.</a:t>
            </a:r>
          </a:p>
          <a:p>
            <a:pPr marL="285750" indent="-285750">
              <a:buFont typeface="Wingdings" panose="05000000000000000000" pitchFamily="2" charset="2"/>
              <a:buChar char="§"/>
            </a:pPr>
            <a:r>
              <a:rPr lang="en-US" dirty="0">
                <a:latin typeface="Sitka Small Semibold" pitchFamily="2" charset="0"/>
              </a:rPr>
              <a:t>Visualization of health status through OLED display and cloud dashboards.</a:t>
            </a:r>
          </a:p>
          <a:p>
            <a:pPr marL="285750" indent="-285750">
              <a:buFont typeface="Wingdings" panose="05000000000000000000" pitchFamily="2" charset="2"/>
              <a:buChar char="§"/>
            </a:pPr>
            <a:r>
              <a:rPr lang="en-US" dirty="0">
                <a:latin typeface="Sitka Small Semibold" pitchFamily="2" charset="0"/>
              </a:rPr>
              <a:t>Early detection of abnormal heartbeat patterns with instant alerts.</a:t>
            </a:r>
          </a:p>
          <a:p>
            <a:pPr marL="285750" indent="-285750">
              <a:buFont typeface="Wingdings" panose="05000000000000000000" pitchFamily="2" charset="2"/>
              <a:buChar char="§"/>
            </a:pPr>
            <a:r>
              <a:rPr lang="en-US" dirty="0">
                <a:latin typeface="Sitka Small Semibold" pitchFamily="2" charset="0"/>
              </a:rPr>
              <a:t>Reliable operation in hostile and remote environments.</a:t>
            </a:r>
          </a:p>
          <a:p>
            <a:pPr marL="285750" indent="-285750">
              <a:buFont typeface="Wingdings" panose="05000000000000000000" pitchFamily="2" charset="2"/>
              <a:buChar char="§"/>
            </a:pPr>
            <a:endParaRPr lang="en-US" dirty="0">
              <a:latin typeface="Sitka Small Semibold" pitchFamily="2" charset="0"/>
            </a:endParaRPr>
          </a:p>
          <a:p>
            <a:pPr marL="285750" indent="-285750">
              <a:buFont typeface="Wingdings" panose="05000000000000000000" pitchFamily="2" charset="2"/>
              <a:buChar char="§"/>
            </a:pPr>
            <a:r>
              <a:rPr lang="en-US" b="1" dirty="0">
                <a:latin typeface="Sitka Small Semibold" pitchFamily="2" charset="0"/>
              </a:rPr>
              <a:t>Additional Goals</a:t>
            </a:r>
          </a:p>
          <a:p>
            <a:pPr marL="285750" indent="-285750">
              <a:buFont typeface="Wingdings" panose="05000000000000000000" pitchFamily="2" charset="2"/>
              <a:buChar char="§"/>
            </a:pPr>
            <a:r>
              <a:rPr lang="en-US" dirty="0">
                <a:latin typeface="Sitka Small Semibold" pitchFamily="2" charset="0"/>
              </a:rPr>
              <a:t>Ensure portability and low power consumption for field deployment.</a:t>
            </a:r>
          </a:p>
          <a:p>
            <a:pPr marL="285750" indent="-285750">
              <a:buFont typeface="Wingdings" panose="05000000000000000000" pitchFamily="2" charset="2"/>
              <a:buChar char="§"/>
            </a:pPr>
            <a:r>
              <a:rPr lang="en-US" dirty="0">
                <a:latin typeface="Sitka Small Semibold" pitchFamily="2" charset="0"/>
              </a:rPr>
              <a:t>Provide secure data logging for long-term health analysis.</a:t>
            </a:r>
          </a:p>
          <a:p>
            <a:pPr marL="285750" indent="-285750">
              <a:buFont typeface="Wingdings" panose="05000000000000000000" pitchFamily="2" charset="2"/>
              <a:buChar char="§"/>
            </a:pPr>
            <a:r>
              <a:rPr lang="en-US" dirty="0">
                <a:latin typeface="Sitka Small Semibold" pitchFamily="2" charset="0"/>
              </a:rPr>
              <a:t>Enable scalability to support multiple users (workers/soldiers) simultaneously.</a:t>
            </a:r>
          </a:p>
          <a:p>
            <a:pPr marL="285750" indent="-285750">
              <a:buFont typeface="Wingdings" panose="05000000000000000000" pitchFamily="2" charset="2"/>
              <a:buChar char="§"/>
            </a:pPr>
            <a:endParaRPr lang="en-IN" dirty="0">
              <a:latin typeface="Sitka Small Semibold" pitchFamily="2"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452284" y="145060"/>
            <a:ext cx="10515600" cy="493857"/>
          </a:xfrm>
          <a:prstGeom prst="rect">
            <a:avLst/>
          </a:prstGeom>
          <a:noFill/>
          <a:ln>
            <a:noFill/>
          </a:ln>
        </p:spPr>
        <p:txBody>
          <a:bodyPr spcFirstLastPara="1" wrap="square" lIns="91425" tIns="45700" rIns="91425" bIns="45700" anchor="t" anchorCtr="0">
            <a:noAutofit/>
          </a:bodyPr>
          <a:lstStyle/>
          <a:p>
            <a:pPr lvl="0" algn="ctr">
              <a:buSzPts val="2400"/>
            </a:pPr>
            <a:r>
              <a:rPr lang="en-US" sz="2400" b="1" dirty="0"/>
              <a:t>Problem Statement / Research Gap</a:t>
            </a:r>
            <a:endParaRPr lang="en-US" sz="2400" b="1" i="0" u="none" strike="noStrike" cap="none" dirty="0">
              <a:solidFill>
                <a:srgbClr val="000000"/>
              </a:solidFill>
              <a:latin typeface="Arial"/>
              <a:ea typeface="Arial"/>
              <a:cs typeface="Arial"/>
              <a:sym typeface="Arial"/>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6" name="Rectangle 1">
            <a:extLst>
              <a:ext uri="{FF2B5EF4-FFF2-40B4-BE49-F238E27FC236}">
                <a16:creationId xmlns:a16="http://schemas.microsoft.com/office/drawing/2014/main" id="{CFBFEBC8-FFD9-A563-098E-39C0808B78EB}"/>
              </a:ext>
            </a:extLst>
          </p:cNvPr>
          <p:cNvSpPr>
            <a:spLocks noChangeArrowheads="1"/>
          </p:cNvSpPr>
          <p:nvPr/>
        </p:nvSpPr>
        <p:spPr bwMode="auto">
          <a:xfrm>
            <a:off x="454617" y="1001647"/>
            <a:ext cx="11282766" cy="4197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Most existing heartbeat monitoring systems are </a:t>
            </a:r>
            <a:r>
              <a:rPr kumimoji="0" lang="en-US" altLang="en-US" sz="1800" b="1" i="0" u="none" strike="noStrike" cap="none" normalizeH="0" baseline="0" dirty="0">
                <a:ln>
                  <a:noFill/>
                </a:ln>
                <a:solidFill>
                  <a:schemeClr val="tx1"/>
                </a:solidFill>
                <a:effectLst/>
                <a:latin typeface="Sitka Small Semibold" pitchFamily="2" charset="0"/>
              </a:rPr>
              <a:t>limited to local displays</a:t>
            </a:r>
            <a:r>
              <a:rPr kumimoji="0" lang="en-US" altLang="en-US" sz="1800" b="0" i="0" u="none" strike="noStrike" cap="none" normalizeH="0" baseline="0" dirty="0">
                <a:ln>
                  <a:noFill/>
                </a:ln>
                <a:solidFill>
                  <a:schemeClr val="tx1"/>
                </a:solidFill>
                <a:effectLst/>
                <a:latin typeface="Sitka Small Semibold" pitchFamily="2" charset="0"/>
              </a:rPr>
              <a:t> (OLED/LCD) and </a:t>
            </a:r>
            <a:r>
              <a:rPr kumimoji="0" lang="en-US" altLang="en-US" sz="1800" b="1" i="0" u="none" strike="noStrike" cap="none" normalizeH="0" baseline="0" dirty="0">
                <a:ln>
                  <a:noFill/>
                </a:ln>
                <a:solidFill>
                  <a:schemeClr val="tx1"/>
                </a:solidFill>
                <a:effectLst/>
                <a:latin typeface="Sitka Small Semibold" pitchFamily="2" charset="0"/>
              </a:rPr>
              <a:t>do not provide remote/cloud access</a:t>
            </a:r>
            <a:r>
              <a:rPr kumimoji="0" lang="en-US" altLang="en-US" sz="1800" b="0" i="0" u="none" strike="noStrike" cap="none" normalizeH="0" baseline="0" dirty="0">
                <a:ln>
                  <a:noFill/>
                </a:ln>
                <a:solidFill>
                  <a:schemeClr val="tx1"/>
                </a:solidFill>
                <a:effectLst/>
                <a:latin typeface="Sitka Small Semibold" pitchFamily="2"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Lack of </a:t>
            </a:r>
            <a:r>
              <a:rPr kumimoji="0" lang="en-US" altLang="en-US" sz="1800" b="1" i="0" u="none" strike="noStrike" cap="none" normalizeH="0" baseline="0" dirty="0">
                <a:ln>
                  <a:noFill/>
                </a:ln>
                <a:solidFill>
                  <a:schemeClr val="tx1"/>
                </a:solidFill>
                <a:effectLst/>
                <a:latin typeface="Sitka Small Semibold" pitchFamily="2" charset="0"/>
              </a:rPr>
              <a:t>continuous monitoring</a:t>
            </a:r>
            <a:r>
              <a:rPr kumimoji="0" lang="en-US" altLang="en-US" sz="1800" b="0" i="0" u="none" strike="noStrike" cap="none" normalizeH="0" baseline="0" dirty="0">
                <a:ln>
                  <a:noFill/>
                </a:ln>
                <a:solidFill>
                  <a:schemeClr val="tx1"/>
                </a:solidFill>
                <a:effectLst/>
                <a:latin typeface="Sitka Small Semibold" pitchFamily="2" charset="0"/>
              </a:rPr>
              <a:t> in hostile or remote environments (battlefields, disaster zones, mines).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Soldiers and workers in extreme conditions are </a:t>
            </a:r>
            <a:r>
              <a:rPr kumimoji="0" lang="en-US" altLang="en-US" sz="1800" b="1" i="0" u="none" strike="noStrike" cap="none" normalizeH="0" baseline="0" dirty="0">
                <a:ln>
                  <a:noFill/>
                </a:ln>
                <a:solidFill>
                  <a:schemeClr val="tx1"/>
                </a:solidFill>
                <a:effectLst/>
                <a:latin typeface="Sitka Small Semibold" pitchFamily="2" charset="0"/>
              </a:rPr>
              <a:t>exposed to high risk</a:t>
            </a:r>
            <a:r>
              <a:rPr kumimoji="0" lang="en-US" altLang="en-US" sz="1800" b="0" i="0" u="none" strike="noStrike" cap="none" normalizeH="0" baseline="0" dirty="0">
                <a:ln>
                  <a:noFill/>
                </a:ln>
                <a:solidFill>
                  <a:schemeClr val="tx1"/>
                </a:solidFill>
                <a:effectLst/>
                <a:latin typeface="Sitka Small Semibold" pitchFamily="2" charset="0"/>
              </a:rPr>
              <a:t> without real-time health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Existing research often focuses on </a:t>
            </a:r>
            <a:r>
              <a:rPr kumimoji="0" lang="en-US" altLang="en-US" sz="1800" b="1" i="0" u="none" strike="noStrike" cap="none" normalizeH="0" baseline="0" dirty="0">
                <a:ln>
                  <a:noFill/>
                </a:ln>
                <a:solidFill>
                  <a:schemeClr val="tx1"/>
                </a:solidFill>
                <a:effectLst/>
                <a:latin typeface="Sitka Small Semibold" pitchFamily="2" charset="0"/>
              </a:rPr>
              <a:t>laboratory or hospital setups</a:t>
            </a:r>
            <a:r>
              <a:rPr kumimoji="0" lang="en-US" altLang="en-US" sz="1800" b="0" i="0" u="none" strike="noStrike" cap="none" normalizeH="0" baseline="0" dirty="0">
                <a:ln>
                  <a:noFill/>
                </a:ln>
                <a:solidFill>
                  <a:schemeClr val="tx1"/>
                </a:solidFill>
                <a:effectLst/>
                <a:latin typeface="Sitka Small Semibold" pitchFamily="2" charset="0"/>
              </a:rPr>
              <a:t>, not on </a:t>
            </a:r>
            <a:r>
              <a:rPr kumimoji="0" lang="en-US" altLang="en-US" sz="1800" b="1" i="0" u="none" strike="noStrike" cap="none" normalizeH="0" baseline="0" dirty="0">
                <a:ln>
                  <a:noFill/>
                </a:ln>
                <a:solidFill>
                  <a:schemeClr val="tx1"/>
                </a:solidFill>
                <a:effectLst/>
                <a:latin typeface="Sitka Small Semibold" pitchFamily="2" charset="0"/>
              </a:rPr>
              <a:t>field-deployable, IoT-enabled systems</a:t>
            </a:r>
            <a:r>
              <a:rPr kumimoji="0" lang="en-US" altLang="en-US" sz="1800" b="0" i="0" u="none" strike="noStrike" cap="none" normalizeH="0" baseline="0" dirty="0">
                <a:ln>
                  <a:noFill/>
                </a:ln>
                <a:solidFill>
                  <a:schemeClr val="tx1"/>
                </a:solidFill>
                <a:effectLst/>
                <a:latin typeface="Sitka Small Semibold" pitchFamily="2"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No integrated system that combines </a:t>
            </a:r>
            <a:r>
              <a:rPr kumimoji="0" lang="en-US" altLang="en-US" sz="1800" b="1" i="0" u="none" strike="noStrike" cap="none" normalizeH="0" baseline="0" dirty="0">
                <a:ln>
                  <a:noFill/>
                </a:ln>
                <a:solidFill>
                  <a:schemeClr val="tx1"/>
                </a:solidFill>
                <a:effectLst/>
                <a:latin typeface="Sitka Small Semibold" pitchFamily="2" charset="0"/>
              </a:rPr>
              <a:t>pulse sensing + cloud storage + real-time visualization</a:t>
            </a:r>
            <a:r>
              <a:rPr kumimoji="0" lang="en-US" altLang="en-US" sz="1800" b="0" i="0" u="none" strike="noStrike" cap="none" normalizeH="0" baseline="0" dirty="0">
                <a:ln>
                  <a:noFill/>
                </a:ln>
                <a:solidFill>
                  <a:schemeClr val="tx1"/>
                </a:solidFill>
                <a:effectLst/>
                <a:latin typeface="Sitka Small Semibold" pitchFamily="2" charset="0"/>
              </a:rPr>
              <a:t> for proactive health response.</a:t>
            </a:r>
          </a:p>
        </p:txBody>
      </p:sp>
    </p:spTree>
    <p:extLst>
      <p:ext uri="{BB962C8B-B14F-4D97-AF65-F5344CB8AC3E}">
        <p14:creationId xmlns:p14="http://schemas.microsoft.com/office/powerpoint/2010/main" val="1995428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a:xfrm>
            <a:off x="9354317" y="6374299"/>
            <a:ext cx="2743200" cy="365125"/>
          </a:xfrm>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905642" y="113699"/>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770756" y="607556"/>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 </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graphicFrame>
        <p:nvGraphicFramePr>
          <p:cNvPr id="10" name="Table 9">
            <a:extLst>
              <a:ext uri="{FF2B5EF4-FFF2-40B4-BE49-F238E27FC236}">
                <a16:creationId xmlns:a16="http://schemas.microsoft.com/office/drawing/2014/main" id="{326C6B45-9637-AF13-75A0-DC01AFF0B958}"/>
              </a:ext>
            </a:extLst>
          </p:cNvPr>
          <p:cNvGraphicFramePr>
            <a:graphicFrameLocks noGrp="1"/>
          </p:cNvGraphicFramePr>
          <p:nvPr>
            <p:extLst>
              <p:ext uri="{D42A27DB-BD31-4B8C-83A1-F6EECF244321}">
                <p14:modId xmlns:p14="http://schemas.microsoft.com/office/powerpoint/2010/main" val="1308156387"/>
              </p:ext>
            </p:extLst>
          </p:nvPr>
        </p:nvGraphicFramePr>
        <p:xfrm>
          <a:off x="0" y="637452"/>
          <a:ext cx="12192000" cy="5325448"/>
        </p:xfrm>
        <a:graphic>
          <a:graphicData uri="http://schemas.openxmlformats.org/drawingml/2006/table">
            <a:tbl>
              <a:tblPr firstRow="1" bandRow="1">
                <a:tableStyleId>{DE7AD339-51BE-4A38-A1C7-CCF28897F289}</a:tableStyleId>
              </a:tblPr>
              <a:tblGrid>
                <a:gridCol w="3048000">
                  <a:extLst>
                    <a:ext uri="{9D8B030D-6E8A-4147-A177-3AD203B41FA5}">
                      <a16:colId xmlns:a16="http://schemas.microsoft.com/office/drawing/2014/main" val="1622336598"/>
                    </a:ext>
                  </a:extLst>
                </a:gridCol>
                <a:gridCol w="3048000">
                  <a:extLst>
                    <a:ext uri="{9D8B030D-6E8A-4147-A177-3AD203B41FA5}">
                      <a16:colId xmlns:a16="http://schemas.microsoft.com/office/drawing/2014/main" val="2713661377"/>
                    </a:ext>
                  </a:extLst>
                </a:gridCol>
                <a:gridCol w="3048000">
                  <a:extLst>
                    <a:ext uri="{9D8B030D-6E8A-4147-A177-3AD203B41FA5}">
                      <a16:colId xmlns:a16="http://schemas.microsoft.com/office/drawing/2014/main" val="3018602361"/>
                    </a:ext>
                  </a:extLst>
                </a:gridCol>
                <a:gridCol w="3048000">
                  <a:extLst>
                    <a:ext uri="{9D8B030D-6E8A-4147-A177-3AD203B41FA5}">
                      <a16:colId xmlns:a16="http://schemas.microsoft.com/office/drawing/2014/main" val="2109756497"/>
                    </a:ext>
                  </a:extLst>
                </a:gridCol>
              </a:tblGrid>
              <a:tr h="799168">
                <a:tc>
                  <a:txBody>
                    <a:bodyPr/>
                    <a:lstStyle/>
                    <a:p>
                      <a:r>
                        <a:rPr lang="en-US" sz="1800" dirty="0">
                          <a:latin typeface="Sitka Small Semibold" pitchFamily="2" charset="0"/>
                        </a:rPr>
                        <a:t>Title  and Author</a:t>
                      </a:r>
                    </a:p>
                  </a:txBody>
                  <a:tcPr/>
                </a:tc>
                <a:tc>
                  <a:txBody>
                    <a:bodyPr/>
                    <a:lstStyle/>
                    <a:p>
                      <a:r>
                        <a:rPr lang="en-US" sz="2000" dirty="0">
                          <a:latin typeface="Sitka Small Semibold" pitchFamily="2" charset="0"/>
                        </a:rPr>
                        <a:t>Problem statement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Sitka Small Semibold" pitchFamily="2" charset="0"/>
                        </a:rPr>
                        <a:t>Methodology</a:t>
                      </a:r>
                    </a:p>
                    <a:p>
                      <a:endParaRPr lang="en-US" sz="2000" dirty="0">
                        <a:latin typeface="Sitka Small Semibold" pitchFamily="2" charset="0"/>
                      </a:endParaRPr>
                    </a:p>
                  </a:txBody>
                  <a:tcPr/>
                </a:tc>
                <a:tc>
                  <a:txBody>
                    <a:bodyPr/>
                    <a:lstStyle/>
                    <a:p>
                      <a:r>
                        <a:rPr lang="en-US" sz="2000" dirty="0">
                          <a:latin typeface="Sitka Small Semibold" pitchFamily="2" charset="0"/>
                        </a:rPr>
                        <a:t>Result</a:t>
                      </a:r>
                    </a:p>
                  </a:txBody>
                  <a:tcPr/>
                </a:tc>
                <a:extLst>
                  <a:ext uri="{0D108BD9-81ED-4DB2-BD59-A6C34878D82A}">
                    <a16:rowId xmlns:a16="http://schemas.microsoft.com/office/drawing/2014/main" val="2944116650"/>
                  </a:ext>
                </a:extLst>
              </a:tr>
              <a:tr h="1490755">
                <a:tc>
                  <a:txBody>
                    <a:bodyPr/>
                    <a:lstStyle/>
                    <a:p>
                      <a:r>
                        <a:rPr lang="en-US" sz="1500" dirty="0">
                          <a:latin typeface="Sitka Small Semibold" pitchFamily="2" charset="0"/>
                        </a:rPr>
                        <a:t>Real-Time Health Monitoring and Tracking System of Soldiers Using IoT </a:t>
                      </a:r>
                    </a:p>
                    <a:p>
                      <a:r>
                        <a:rPr lang="en-US" sz="1500" dirty="0">
                          <a:latin typeface="Sitka Small Semibold" pitchFamily="2" charset="0"/>
                        </a:rPr>
                        <a:t>Aradhana Sahu, Pranali </a:t>
                      </a:r>
                      <a:r>
                        <a:rPr lang="en-US" sz="1500" dirty="0" err="1">
                          <a:latin typeface="Sitka Small Semibold" pitchFamily="2" charset="0"/>
                        </a:rPr>
                        <a:t>Ghotekar</a:t>
                      </a:r>
                      <a:r>
                        <a:rPr lang="en-US" sz="1500" dirty="0">
                          <a:latin typeface="Sitka Small Semibold" pitchFamily="2" charset="0"/>
                        </a:rPr>
                        <a:t>, Shrinivas Patil, Rutuja Ghodke</a:t>
                      </a:r>
                    </a:p>
                  </a:txBody>
                  <a:tcPr/>
                </a:tc>
                <a:tc>
                  <a:txBody>
                    <a:bodyPr/>
                    <a:lstStyle/>
                    <a:p>
                      <a:r>
                        <a:rPr lang="en-US" sz="1500" dirty="0">
                          <a:latin typeface="Sitka Small Semibold" pitchFamily="2" charset="0"/>
                        </a:rPr>
                        <a:t> Soldiers in remote/hostile areas face health risks without immediate medical aid, and there is no system for continuous real-time monitoring of their health and location. </a:t>
                      </a:r>
                    </a:p>
                  </a:txBody>
                  <a:tcPr/>
                </a:tc>
                <a:tc>
                  <a:txBody>
                    <a:bodyPr/>
                    <a:lstStyle/>
                    <a:p>
                      <a:r>
                        <a:rPr lang="en-US" sz="1500" dirty="0">
                          <a:latin typeface="Sitka Small Semibold" pitchFamily="2" charset="0"/>
                        </a:rPr>
                        <a:t> Wearable sensors for heart rate, ECG, and temperature </a:t>
                      </a:r>
                    </a:p>
                    <a:p>
                      <a:r>
                        <a:rPr lang="en-US" sz="1500" dirty="0">
                          <a:latin typeface="Sitka Small Semibold" pitchFamily="2" charset="0"/>
                        </a:rPr>
                        <a:t> • Arduino + GPS + GSM (SIM808) to collect &amp; transmit data </a:t>
                      </a:r>
                    </a:p>
                    <a:p>
                      <a:r>
                        <a:rPr lang="en-US" sz="1500" dirty="0">
                          <a:latin typeface="Sitka Small Semibold" pitchFamily="2" charset="0"/>
                        </a:rPr>
                        <a:t>• Soldier node → Squadron node → Control center node </a:t>
                      </a:r>
                    </a:p>
                    <a:p>
                      <a:r>
                        <a:rPr lang="en-US" sz="1500" dirty="0">
                          <a:latin typeface="Sitka Small Semibold" pitchFamily="2" charset="0"/>
                        </a:rPr>
                        <a:t>• Panic button + alert system for emergencies</a:t>
                      </a:r>
                    </a:p>
                  </a:txBody>
                  <a:tcPr/>
                </a:tc>
                <a:tc>
                  <a:txBody>
                    <a:bodyPr/>
                    <a:lstStyle/>
                    <a:p>
                      <a:r>
                        <a:rPr lang="en-US" sz="1500" dirty="0">
                          <a:latin typeface="Sitka Small Semibold" pitchFamily="2" charset="0"/>
                        </a:rPr>
                        <a:t>System enables real-time monitoring of soldier’s health &amp; location, generates emergency alerts, and improves safety and battlefield decision-making. </a:t>
                      </a:r>
                    </a:p>
                  </a:txBody>
                  <a:tcPr/>
                </a:tc>
                <a:extLst>
                  <a:ext uri="{0D108BD9-81ED-4DB2-BD59-A6C34878D82A}">
                    <a16:rowId xmlns:a16="http://schemas.microsoft.com/office/drawing/2014/main" val="1763843612"/>
                  </a:ext>
                </a:extLst>
              </a:tr>
              <a:tr h="1490755">
                <a:tc>
                  <a:txBody>
                    <a:bodyPr/>
                    <a:lstStyle/>
                    <a:p>
                      <a:r>
                        <a:rPr lang="en-US" sz="1500" dirty="0">
                          <a:latin typeface="Sitka Small Semibold" pitchFamily="2" charset="0"/>
                        </a:rPr>
                        <a:t>Online Monitoring Health Station Using Arduino Mobile Connected to Cloud service: “Heart Monitor” System</a:t>
                      </a:r>
                    </a:p>
                    <a:p>
                      <a:r>
                        <a:rPr lang="en-US" sz="1500" dirty="0">
                          <a:latin typeface="Sitka Small Semibold" pitchFamily="2" charset="0"/>
                        </a:rPr>
                        <a:t>Eman Abed-</a:t>
                      </a:r>
                      <a:r>
                        <a:rPr lang="en-US" sz="1500" dirty="0" err="1">
                          <a:latin typeface="Sitka Small Semibold" pitchFamily="2" charset="0"/>
                        </a:rPr>
                        <a:t>Alkareem</a:t>
                      </a:r>
                      <a:r>
                        <a:rPr lang="en-US" sz="1500" dirty="0">
                          <a:latin typeface="Sitka Small Semibold" pitchFamily="2" charset="0"/>
                        </a:rPr>
                        <a:t> Karajah, Isam Ishaq (Al-Quds University, Jerusalem, Palestine)</a:t>
                      </a:r>
                    </a:p>
                  </a:txBody>
                  <a:tcPr/>
                </a:tc>
                <a:tc>
                  <a:txBody>
                    <a:bodyPr/>
                    <a:lstStyle/>
                    <a:p>
                      <a:r>
                        <a:rPr lang="en-US" sz="1500" dirty="0">
                          <a:latin typeface="Sitka Small Semibold" pitchFamily="2" charset="0"/>
                        </a:rPr>
                        <a:t>Many patients need continuous monitoring of vital signs (heart rate, body temperature). Existing solutions are costly, require hospital visits, and lack real-time remote monitoring.</a:t>
                      </a:r>
                    </a:p>
                  </a:txBody>
                  <a:tcPr/>
                </a:tc>
                <a:tc>
                  <a:txBody>
                    <a:bodyPr/>
                    <a:lstStyle/>
                    <a:p>
                      <a:r>
                        <a:rPr lang="en-US" sz="1500" dirty="0">
                          <a:latin typeface="Sitka Small Semibold" pitchFamily="2" charset="0"/>
                        </a:rPr>
                        <a:t>Developed an Arduino Uno-based circuit with heart rate sensor (SN-11574), LM35 temperature sensor, HC-05 Bluetooth module. Data is sent to an Android app, displayed, stored in Google Sheets cloud, with alarms and automatic calling after 5 abnormal readings.</a:t>
                      </a:r>
                    </a:p>
                  </a:txBody>
                  <a:tcPr/>
                </a:tc>
                <a:tc>
                  <a:txBody>
                    <a:bodyPr/>
                    <a:lstStyle/>
                    <a:p>
                      <a:r>
                        <a:rPr lang="en-US" sz="1500" dirty="0">
                          <a:latin typeface="Sitka Small Semibold" pitchFamily="2" charset="0"/>
                        </a:rPr>
                        <a:t>The proposed “Heart Monitor” system achieved 97.4% accuracy compared to an ECG device. It provides real-time monitoring, alarm alerts, and automatic calls during abnormal readings.</a:t>
                      </a:r>
                    </a:p>
                  </a:txBody>
                  <a:tcPr/>
                </a:tc>
                <a:extLst>
                  <a:ext uri="{0D108BD9-81ED-4DB2-BD59-A6C34878D82A}">
                    <a16:rowId xmlns:a16="http://schemas.microsoft.com/office/drawing/2014/main" val="2220341540"/>
                  </a:ext>
                </a:extLst>
              </a:tr>
            </a:tbl>
          </a:graphicData>
        </a:graphic>
      </p:graphicFrame>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DEFF46-00EE-599C-516C-CC70658EF0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graphicFrame>
        <p:nvGraphicFramePr>
          <p:cNvPr id="5" name="Table 4">
            <a:extLst>
              <a:ext uri="{FF2B5EF4-FFF2-40B4-BE49-F238E27FC236}">
                <a16:creationId xmlns:a16="http://schemas.microsoft.com/office/drawing/2014/main" id="{A5AB65BE-3D46-016E-B054-A0BA7A9F9269}"/>
              </a:ext>
            </a:extLst>
          </p:cNvPr>
          <p:cNvGraphicFramePr>
            <a:graphicFrameLocks noGrp="1"/>
          </p:cNvGraphicFramePr>
          <p:nvPr>
            <p:extLst>
              <p:ext uri="{D42A27DB-BD31-4B8C-83A1-F6EECF244321}">
                <p14:modId xmlns:p14="http://schemas.microsoft.com/office/powerpoint/2010/main" val="2439336678"/>
              </p:ext>
            </p:extLst>
          </p:nvPr>
        </p:nvGraphicFramePr>
        <p:xfrm>
          <a:off x="-47309" y="115677"/>
          <a:ext cx="12239309" cy="6148025"/>
        </p:xfrm>
        <a:graphic>
          <a:graphicData uri="http://schemas.openxmlformats.org/drawingml/2006/table">
            <a:tbl>
              <a:tblPr firstRow="1" bandRow="1">
                <a:tableStyleId>{DE7AD339-51BE-4A38-A1C7-CCF28897F289}</a:tableStyleId>
              </a:tblPr>
              <a:tblGrid>
                <a:gridCol w="2487430">
                  <a:extLst>
                    <a:ext uri="{9D8B030D-6E8A-4147-A177-3AD203B41FA5}">
                      <a16:colId xmlns:a16="http://schemas.microsoft.com/office/drawing/2014/main" val="190664686"/>
                    </a:ext>
                  </a:extLst>
                </a:gridCol>
                <a:gridCol w="3349828">
                  <a:extLst>
                    <a:ext uri="{9D8B030D-6E8A-4147-A177-3AD203B41FA5}">
                      <a16:colId xmlns:a16="http://schemas.microsoft.com/office/drawing/2014/main" val="543618374"/>
                    </a:ext>
                  </a:extLst>
                </a:gridCol>
                <a:gridCol w="3128364">
                  <a:extLst>
                    <a:ext uri="{9D8B030D-6E8A-4147-A177-3AD203B41FA5}">
                      <a16:colId xmlns:a16="http://schemas.microsoft.com/office/drawing/2014/main" val="2317938816"/>
                    </a:ext>
                  </a:extLst>
                </a:gridCol>
                <a:gridCol w="3273687">
                  <a:extLst>
                    <a:ext uri="{9D8B030D-6E8A-4147-A177-3AD203B41FA5}">
                      <a16:colId xmlns:a16="http://schemas.microsoft.com/office/drawing/2014/main" val="2685969732"/>
                    </a:ext>
                  </a:extLst>
                </a:gridCol>
              </a:tblGrid>
              <a:tr h="478745">
                <a:tc>
                  <a:txBody>
                    <a:bodyPr/>
                    <a:lstStyle/>
                    <a:p>
                      <a:r>
                        <a:rPr lang="en-US" sz="1800" dirty="0">
                          <a:latin typeface="Sitka Small Semibold" pitchFamily="2" charset="0"/>
                        </a:rPr>
                        <a:t>Title and Authur</a:t>
                      </a:r>
                    </a:p>
                  </a:txBody>
                  <a:tcPr/>
                </a:tc>
                <a:tc>
                  <a:txBody>
                    <a:bodyPr/>
                    <a:lstStyle/>
                    <a:p>
                      <a:r>
                        <a:rPr lang="en-US" sz="1800" dirty="0">
                          <a:latin typeface="Sitka Small Semibold" pitchFamily="2" charset="0"/>
                        </a:rPr>
                        <a:t>Problem Statement</a:t>
                      </a:r>
                    </a:p>
                  </a:txBody>
                  <a:tcPr/>
                </a:tc>
                <a:tc>
                  <a:txBody>
                    <a:bodyPr/>
                    <a:lstStyle/>
                    <a:p>
                      <a:r>
                        <a:rPr lang="en-US" sz="1800" dirty="0">
                          <a:latin typeface="Sitka Small Semibold" pitchFamily="2" charset="0"/>
                        </a:rPr>
                        <a:t>Methodology</a:t>
                      </a:r>
                    </a:p>
                  </a:txBody>
                  <a:tcPr/>
                </a:tc>
                <a:tc>
                  <a:txBody>
                    <a:bodyPr/>
                    <a:lstStyle/>
                    <a:p>
                      <a:r>
                        <a:rPr lang="en-US" sz="1800" dirty="0">
                          <a:latin typeface="Sitka Small Semibold" pitchFamily="2" charset="0"/>
                        </a:rPr>
                        <a:t>Result</a:t>
                      </a:r>
                    </a:p>
                  </a:txBody>
                  <a:tcPr/>
                </a:tc>
                <a:extLst>
                  <a:ext uri="{0D108BD9-81ED-4DB2-BD59-A6C34878D82A}">
                    <a16:rowId xmlns:a16="http://schemas.microsoft.com/office/drawing/2014/main" val="1331795288"/>
                  </a:ext>
                </a:extLst>
              </a:tr>
              <a:tr h="996905">
                <a:tc>
                  <a:txBody>
                    <a:bodyPr/>
                    <a:lstStyle/>
                    <a:p>
                      <a:r>
                        <a:rPr lang="en-US" sz="1500" dirty="0">
                          <a:latin typeface="Sitka Small Semibold" pitchFamily="2" charset="0"/>
                        </a:rPr>
                        <a:t>Health Monitoring System</a:t>
                      </a:r>
                    </a:p>
                    <a:p>
                      <a:r>
                        <a:rPr lang="en-US" sz="1500" dirty="0">
                          <a:latin typeface="Sitka Small Semibold" pitchFamily="2" charset="0"/>
                        </a:rPr>
                        <a:t>Prof. R. R. </a:t>
                      </a:r>
                      <a:r>
                        <a:rPr lang="en-US" sz="1500" dirty="0" err="1">
                          <a:latin typeface="Sitka Small Semibold" pitchFamily="2" charset="0"/>
                        </a:rPr>
                        <a:t>JainNidhi</a:t>
                      </a:r>
                      <a:r>
                        <a:rPr lang="en-US" sz="1500" dirty="0">
                          <a:latin typeface="Sitka Small Semibold" pitchFamily="2" charset="0"/>
                        </a:rPr>
                        <a:t> </a:t>
                      </a:r>
                      <a:r>
                        <a:rPr lang="en-US" sz="1500" dirty="0" err="1">
                          <a:latin typeface="Sitka Small Semibold" pitchFamily="2" charset="0"/>
                        </a:rPr>
                        <a:t>GuptaAnusha</a:t>
                      </a:r>
                      <a:r>
                        <a:rPr lang="en-US" sz="1500" dirty="0">
                          <a:latin typeface="Sitka Small Semibold" pitchFamily="2" charset="0"/>
                        </a:rPr>
                        <a:t> </a:t>
                      </a:r>
                      <a:r>
                        <a:rPr lang="en-US" sz="1500" dirty="0" err="1">
                          <a:latin typeface="Sitka Small Semibold" pitchFamily="2" charset="0"/>
                        </a:rPr>
                        <a:t>VartakRevati</a:t>
                      </a:r>
                      <a:r>
                        <a:rPr lang="en-US" sz="1500" dirty="0">
                          <a:latin typeface="Sitka Small Semibold" pitchFamily="2" charset="0"/>
                        </a:rPr>
                        <a:t> Tamboli</a:t>
                      </a:r>
                    </a:p>
                  </a:txBody>
                  <a:tcPr/>
                </a:tc>
                <a:tc>
                  <a:txBody>
                    <a:bodyPr/>
                    <a:lstStyle/>
                    <a:p>
                      <a:r>
                        <a:rPr lang="en-US" sz="1500" dirty="0">
                          <a:latin typeface="Sitka Small Semibold" pitchFamily="2" charset="0"/>
                        </a:rPr>
                        <a:t>Bedridden and critical care patients require constant monitoring of vital parameters. Since doctors or relatives cannot be present all the time, delays in detecting issues like sudden temperature changes, falls, or diet irregularities can be life-threatening. Thus, a system for remote and continuous health monitoring is essential.</a:t>
                      </a:r>
                    </a:p>
                  </a:txBody>
                  <a:tcPr/>
                </a:tc>
                <a:tc>
                  <a:txBody>
                    <a:bodyPr/>
                    <a:lstStyle/>
                    <a:p>
                      <a:r>
                        <a:rPr lang="en-US" sz="1500" dirty="0">
                          <a:latin typeface="Sitka Small Semibold" pitchFamily="2" charset="0"/>
                        </a:rPr>
                        <a:t>The system uses temperature, accelerometer, and vibration sensors to monitor patients. An embedded system processes the data and sends it via Bluetooth to a smartphone app, which tracks temperature, detects falls, monitors diet, and sends alerts. An admin PC stores patient data and diet schedules for doctor reference.</a:t>
                      </a:r>
                    </a:p>
                  </a:txBody>
                  <a:tcPr/>
                </a:tc>
                <a:tc>
                  <a:txBody>
                    <a:bodyPr/>
                    <a:lstStyle/>
                    <a:p>
                      <a:r>
                        <a:rPr lang="en-US" sz="1500" dirty="0">
                          <a:latin typeface="Sitka Small Semibold" pitchFamily="2" charset="0"/>
                        </a:rPr>
                        <a:t>The system monitors body temperature, diet, and falls, sending alerts to doctors or relatives for timely response. While the prototype works, it needs further optimization for compactness and broader use.</a:t>
                      </a:r>
                    </a:p>
                  </a:txBody>
                  <a:tcPr/>
                </a:tc>
                <a:extLst>
                  <a:ext uri="{0D108BD9-81ED-4DB2-BD59-A6C34878D82A}">
                    <a16:rowId xmlns:a16="http://schemas.microsoft.com/office/drawing/2014/main" val="2307685363"/>
                  </a:ext>
                </a:extLst>
              </a:tr>
              <a:tr h="1636622">
                <a:tc>
                  <a:txBody>
                    <a:bodyPr/>
                    <a:lstStyle/>
                    <a:p>
                      <a:r>
                        <a:rPr lang="en-US" sz="1500" dirty="0">
                          <a:latin typeface="Sitka Small Semibold" pitchFamily="2" charset="0"/>
                        </a:rPr>
                        <a:t>IoT Based Health Monitoring System </a:t>
                      </a:r>
                      <a:r>
                        <a:rPr lang="en-US" sz="1500" dirty="0" err="1">
                          <a:latin typeface="Sitka Small Semibold" pitchFamily="2" charset="0"/>
                        </a:rPr>
                        <a:t>Prajoona</a:t>
                      </a:r>
                      <a:r>
                        <a:rPr lang="en-US" sz="1500" dirty="0">
                          <a:latin typeface="Sitka Small Semibold" pitchFamily="2" charset="0"/>
                        </a:rPr>
                        <a:t> </a:t>
                      </a:r>
                      <a:r>
                        <a:rPr lang="en-US" sz="1500" dirty="0" err="1">
                          <a:latin typeface="Sitka Small Semibold" pitchFamily="2" charset="0"/>
                        </a:rPr>
                        <a:t>Valsalan</a:t>
                      </a:r>
                      <a:r>
                        <a:rPr lang="en-US" sz="1500" dirty="0">
                          <a:latin typeface="Sitka Small Semibold" pitchFamily="2" charset="0"/>
                        </a:rPr>
                        <a:t>, Tariq Ahmed Barham </a:t>
                      </a:r>
                      <a:r>
                        <a:rPr lang="en-US" sz="1500" dirty="0" err="1">
                          <a:latin typeface="Sitka Small Semibold" pitchFamily="2" charset="0"/>
                        </a:rPr>
                        <a:t>Baomar</a:t>
                      </a:r>
                      <a:r>
                        <a:rPr lang="en-US" sz="1500" dirty="0">
                          <a:latin typeface="Sitka Small Semibold" pitchFamily="2" charset="0"/>
                        </a:rPr>
                        <a:t>, Ali Hussain Omar </a:t>
                      </a:r>
                      <a:r>
                        <a:rPr lang="en-US" sz="1500" dirty="0" err="1">
                          <a:latin typeface="Sitka Small Semibold" pitchFamily="2" charset="0"/>
                        </a:rPr>
                        <a:t>Baabood</a:t>
                      </a:r>
                      <a:r>
                        <a:rPr lang="en-US" sz="1500" dirty="0">
                          <a:latin typeface="Sitka Small Semibold" pitchFamily="2" charset="0"/>
                        </a:rPr>
                        <a:t>.</a:t>
                      </a:r>
                    </a:p>
                  </a:txBody>
                  <a:tcPr/>
                </a:tc>
                <a:tc>
                  <a:txBody>
                    <a:bodyPr/>
                    <a:lstStyle/>
                    <a:p>
                      <a:r>
                        <a:rPr lang="en-US" sz="1500" dirty="0">
                          <a:latin typeface="Sitka Small Semibold" pitchFamily="2" charset="0"/>
                        </a:rPr>
                        <a:t>Healthcare faces challenges in timely diagnosis, especially during epidemics or in rural areas with limited facilities. Frequent hospital visits are costly, so a remote system is needed to monitor vital signs and share data with doctors for proper diagnosis.</a:t>
                      </a:r>
                    </a:p>
                  </a:txBody>
                  <a:tcPr/>
                </a:tc>
                <a:tc>
                  <a:txBody>
                    <a:bodyPr/>
                    <a:lstStyle/>
                    <a:p>
                      <a:r>
                        <a:rPr lang="en-US" sz="1500" dirty="0">
                          <a:latin typeface="Sitka Small Semibold" pitchFamily="2" charset="0"/>
                        </a:rPr>
                        <a:t>An IoT-based health monitoring system was built with sensors to track vital signs, processed by a microcontroller and sent to the cloud. The data, stored on a medical server, is accessible to doctors for remote diagnosis using a rule-based system.</a:t>
                      </a:r>
                    </a:p>
                  </a:txBody>
                  <a:tcPr/>
                </a:tc>
                <a:tc>
                  <a:txBody>
                    <a:bodyPr/>
                    <a:lstStyle/>
                    <a:p>
                      <a:r>
                        <a:rPr lang="en-US" sz="1500" dirty="0">
                          <a:latin typeface="Sitka Small Semibold" pitchFamily="2" charset="0"/>
                        </a:rPr>
                        <a:t>The prototype successfully monitored and transmitted sensor data to the IoT platform, enabling doctors to remotely diagnose patient conditions. This reduced hospital visits and supported timely intervention, proving effective for epidemics and rural healthcare.</a:t>
                      </a:r>
                    </a:p>
                  </a:txBody>
                  <a:tcPr/>
                </a:tc>
                <a:extLst>
                  <a:ext uri="{0D108BD9-81ED-4DB2-BD59-A6C34878D82A}">
                    <a16:rowId xmlns:a16="http://schemas.microsoft.com/office/drawing/2014/main" val="1353293917"/>
                  </a:ext>
                </a:extLst>
              </a:tr>
            </a:tbl>
          </a:graphicData>
        </a:graphic>
      </p:graphicFrame>
    </p:spTree>
    <p:extLst>
      <p:ext uri="{BB962C8B-B14F-4D97-AF65-F5344CB8AC3E}">
        <p14:creationId xmlns:p14="http://schemas.microsoft.com/office/powerpoint/2010/main" val="1208233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4D289C-F572-23D7-3A4B-33B3AED8717B}"/>
              </a:ext>
            </a:extLst>
          </p:cNvPr>
          <p:cNvGraphicFramePr>
            <a:graphicFrameLocks noGrp="1"/>
          </p:cNvGraphicFramePr>
          <p:nvPr>
            <p:extLst>
              <p:ext uri="{D42A27DB-BD31-4B8C-83A1-F6EECF244321}">
                <p14:modId xmlns:p14="http://schemas.microsoft.com/office/powerpoint/2010/main" val="3264722183"/>
              </p:ext>
            </p:extLst>
          </p:nvPr>
        </p:nvGraphicFramePr>
        <p:xfrm>
          <a:off x="449449" y="130728"/>
          <a:ext cx="11484244" cy="5698185"/>
        </p:xfrm>
        <a:graphic>
          <a:graphicData uri="http://schemas.openxmlformats.org/drawingml/2006/table">
            <a:tbl>
              <a:tblPr firstRow="1" bandRow="1">
                <a:tableStyleId>{DE7AD339-51BE-4A38-A1C7-CCF28897F289}</a:tableStyleId>
              </a:tblPr>
              <a:tblGrid>
                <a:gridCol w="2871061">
                  <a:extLst>
                    <a:ext uri="{9D8B030D-6E8A-4147-A177-3AD203B41FA5}">
                      <a16:colId xmlns:a16="http://schemas.microsoft.com/office/drawing/2014/main" val="3499982838"/>
                    </a:ext>
                  </a:extLst>
                </a:gridCol>
                <a:gridCol w="2871061">
                  <a:extLst>
                    <a:ext uri="{9D8B030D-6E8A-4147-A177-3AD203B41FA5}">
                      <a16:colId xmlns:a16="http://schemas.microsoft.com/office/drawing/2014/main" val="2851154387"/>
                    </a:ext>
                  </a:extLst>
                </a:gridCol>
                <a:gridCol w="3282378">
                  <a:extLst>
                    <a:ext uri="{9D8B030D-6E8A-4147-A177-3AD203B41FA5}">
                      <a16:colId xmlns:a16="http://schemas.microsoft.com/office/drawing/2014/main" val="862506436"/>
                    </a:ext>
                  </a:extLst>
                </a:gridCol>
                <a:gridCol w="2459744">
                  <a:extLst>
                    <a:ext uri="{9D8B030D-6E8A-4147-A177-3AD203B41FA5}">
                      <a16:colId xmlns:a16="http://schemas.microsoft.com/office/drawing/2014/main" val="939556317"/>
                    </a:ext>
                  </a:extLst>
                </a:gridCol>
              </a:tblGrid>
              <a:tr h="529232">
                <a:tc>
                  <a:txBody>
                    <a:bodyPr/>
                    <a:lstStyle/>
                    <a:p>
                      <a:r>
                        <a:rPr lang="en-US" sz="1800" dirty="0">
                          <a:latin typeface="Sitka Small Semibold" pitchFamily="2" charset="0"/>
                        </a:rPr>
                        <a:t>Title  and Author</a:t>
                      </a:r>
                    </a:p>
                  </a:txBody>
                  <a:tcPr/>
                </a:tc>
                <a:tc>
                  <a:txBody>
                    <a:bodyPr/>
                    <a:lstStyle/>
                    <a:p>
                      <a:r>
                        <a:rPr lang="en-US" sz="2000" dirty="0">
                          <a:latin typeface="Sitka Small Semibold" pitchFamily="2" charset="0"/>
                        </a:rPr>
                        <a:t>Problem statement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Sitka Small Semibold" pitchFamily="2" charset="0"/>
                        </a:rPr>
                        <a:t>Methodology</a:t>
                      </a:r>
                    </a:p>
                  </a:txBody>
                  <a:tcPr/>
                </a:tc>
                <a:tc>
                  <a:txBody>
                    <a:bodyPr/>
                    <a:lstStyle/>
                    <a:p>
                      <a:r>
                        <a:rPr lang="en-US" sz="2000" dirty="0">
                          <a:latin typeface="Sitka Small Semibold" pitchFamily="2" charset="0"/>
                        </a:rPr>
                        <a:t>Result</a:t>
                      </a:r>
                    </a:p>
                  </a:txBody>
                  <a:tcPr/>
                </a:tc>
                <a:extLst>
                  <a:ext uri="{0D108BD9-81ED-4DB2-BD59-A6C34878D82A}">
                    <a16:rowId xmlns:a16="http://schemas.microsoft.com/office/drawing/2014/main" val="3038249355"/>
                  </a:ext>
                </a:extLst>
              </a:tr>
              <a:tr h="2517193">
                <a:tc>
                  <a:txBody>
                    <a:bodyPr/>
                    <a:lstStyle/>
                    <a:p>
                      <a:r>
                        <a:rPr lang="en-US" sz="1400" b="0" i="0" u="none" strike="noStrike" cap="none" dirty="0">
                          <a:solidFill>
                            <a:srgbClr val="000000"/>
                          </a:solidFill>
                          <a:effectLst/>
                          <a:latin typeface="Sitka Small Semibold" pitchFamily="2" charset="0"/>
                          <a:ea typeface="Arial"/>
                          <a:cs typeface="Arial"/>
                          <a:sym typeface="Arial"/>
                        </a:rPr>
                        <a:t>Automated Remote Cloud-Based Heart Rate Variability Monitoring System</a:t>
                      </a:r>
                    </a:p>
                    <a:p>
                      <a:r>
                        <a:rPr lang="en-US" sz="1400" b="0" i="0" u="none" strike="noStrike" cap="none" dirty="0">
                          <a:solidFill>
                            <a:srgbClr val="000000"/>
                          </a:solidFill>
                          <a:effectLst/>
                          <a:latin typeface="Sitka Small Semibold" pitchFamily="2" charset="0"/>
                          <a:ea typeface="Arial"/>
                          <a:cs typeface="Arial"/>
                          <a:sym typeface="Arial"/>
                        </a:rPr>
                        <a:t>Ahmed Faeq Hussein, Arun Kumar N, Marlon Burbano-Fernandez, Gustavo Ramírez-González, </a:t>
                      </a:r>
                      <a:r>
                        <a:rPr lang="en-US" sz="1400" b="0" i="0" u="none" strike="noStrike" cap="none" dirty="0" err="1">
                          <a:solidFill>
                            <a:srgbClr val="000000"/>
                          </a:solidFill>
                          <a:effectLst/>
                          <a:latin typeface="Sitka Small Semibold" pitchFamily="2" charset="0"/>
                          <a:ea typeface="Arial"/>
                          <a:cs typeface="Arial"/>
                          <a:sym typeface="Arial"/>
                        </a:rPr>
                        <a:t>Enas</a:t>
                      </a:r>
                      <a:r>
                        <a:rPr lang="en-US" sz="1400" b="0" i="0" u="none" strike="noStrike" cap="none" dirty="0">
                          <a:solidFill>
                            <a:srgbClr val="000000"/>
                          </a:solidFill>
                          <a:effectLst/>
                          <a:latin typeface="Sitka Small Semibold" pitchFamily="2" charset="0"/>
                          <a:ea typeface="Arial"/>
                          <a:cs typeface="Arial"/>
                          <a:sym typeface="Arial"/>
                        </a:rPr>
                        <a:t> </a:t>
                      </a:r>
                      <a:r>
                        <a:rPr lang="en-US" sz="1400" b="0" i="0" u="none" strike="noStrike" cap="none" dirty="0" err="1">
                          <a:solidFill>
                            <a:srgbClr val="000000"/>
                          </a:solidFill>
                          <a:effectLst/>
                          <a:latin typeface="Sitka Small Semibold" pitchFamily="2" charset="0"/>
                          <a:ea typeface="Arial"/>
                          <a:cs typeface="Arial"/>
                          <a:sym typeface="Arial"/>
                        </a:rPr>
                        <a:t>Abdulhay</a:t>
                      </a:r>
                      <a:r>
                        <a:rPr lang="en-US" sz="1400" b="0" i="0" u="none" strike="noStrike" cap="none" dirty="0">
                          <a:solidFill>
                            <a:srgbClr val="000000"/>
                          </a:solidFill>
                          <a:effectLst/>
                          <a:latin typeface="Sitka Small Semibold" pitchFamily="2" charset="0"/>
                          <a:ea typeface="Arial"/>
                          <a:cs typeface="Arial"/>
                          <a:sym typeface="Arial"/>
                        </a:rPr>
                        <a:t>, Victor Hugo C. De Albuquerque</a:t>
                      </a:r>
                      <a:endParaRPr lang="en-US" dirty="0">
                        <a:latin typeface="Sitka Small Semibold" pitchFamily="2" charset="0"/>
                      </a:endParaRPr>
                    </a:p>
                  </a:txBody>
                  <a:tcPr/>
                </a:tc>
                <a:tc>
                  <a:txBody>
                    <a:bodyPr/>
                    <a:lstStyle/>
                    <a:p>
                      <a:r>
                        <a:rPr lang="en-US" sz="1400" b="0" i="0" u="none" strike="noStrike" cap="none" dirty="0">
                          <a:solidFill>
                            <a:srgbClr val="000000"/>
                          </a:solidFill>
                          <a:effectLst/>
                          <a:latin typeface="Sitka Small Semibold" pitchFamily="2" charset="0"/>
                          <a:ea typeface="Arial"/>
                          <a:cs typeface="Arial"/>
                          <a:sym typeface="Arial"/>
                        </a:rPr>
                        <a:t>Lack of effective heart health monitoring in remote areas; need for continuous, secure patient tracking</a:t>
                      </a:r>
                      <a:endParaRPr lang="en-US" dirty="0">
                        <a:latin typeface="Sitka Small Semibold" pitchFamily="2" charset="0"/>
                      </a:endParaRPr>
                    </a:p>
                  </a:txBody>
                  <a:tcPr/>
                </a:tc>
                <a:tc>
                  <a:txBody>
                    <a:bodyPr/>
                    <a:lstStyle/>
                    <a:p>
                      <a:r>
                        <a:rPr lang="en-US" sz="1400" b="0" i="0" u="none" strike="noStrike" cap="none" dirty="0">
                          <a:solidFill>
                            <a:srgbClr val="000000"/>
                          </a:solidFill>
                          <a:effectLst/>
                          <a:latin typeface="Sitka Small Semibold" pitchFamily="2" charset="0"/>
                          <a:ea typeface="Arial"/>
                          <a:cs typeface="Arial"/>
                          <a:sym typeface="Arial"/>
                        </a:rPr>
                        <a:t>Wearable ECG sends data to the cloud, analyzed for heart rate variability using secure algorithms and web</a:t>
                      </a:r>
                      <a:endParaRPr lang="en-US" dirty="0">
                        <a:latin typeface="Sitka Small Semibold" pitchFamily="2" charset="0"/>
                      </a:endParaRPr>
                    </a:p>
                  </a:txBody>
                  <a:tcPr/>
                </a:tc>
                <a:tc>
                  <a:txBody>
                    <a:bodyPr/>
                    <a:lstStyle/>
                    <a:p>
                      <a:r>
                        <a:rPr lang="en-US" sz="1400" b="0" i="0" u="none" strike="noStrike" cap="none" dirty="0">
                          <a:solidFill>
                            <a:srgbClr val="000000"/>
                          </a:solidFill>
                          <a:effectLst/>
                          <a:latin typeface="Arial"/>
                          <a:ea typeface="Arial"/>
                          <a:cs typeface="Arial"/>
                          <a:sym typeface="Arial"/>
                        </a:rPr>
                        <a:t>H</a:t>
                      </a:r>
                      <a:r>
                        <a:rPr lang="en-US" sz="1400" b="0" i="0" u="none" strike="noStrike" cap="none" dirty="0">
                          <a:solidFill>
                            <a:srgbClr val="000000"/>
                          </a:solidFill>
                          <a:effectLst/>
                          <a:latin typeface="Sitka Small Semibold" pitchFamily="2" charset="0"/>
                          <a:ea typeface="Arial"/>
                          <a:cs typeface="Arial"/>
                          <a:sym typeface="Arial"/>
                        </a:rPr>
                        <a:t>igh accuracy (&gt;99%), enables easy remote monitoring and secure data access for doctors and patients</a:t>
                      </a:r>
                      <a:endParaRPr lang="en-US" dirty="0">
                        <a:latin typeface="Sitka Small Semibold" pitchFamily="2" charset="0"/>
                      </a:endParaRPr>
                    </a:p>
                  </a:txBody>
                  <a:tcPr/>
                </a:tc>
                <a:extLst>
                  <a:ext uri="{0D108BD9-81ED-4DB2-BD59-A6C34878D82A}">
                    <a16:rowId xmlns:a16="http://schemas.microsoft.com/office/drawing/2014/main" val="3161731029"/>
                  </a:ext>
                </a:extLst>
              </a:tr>
              <a:tr h="2383507">
                <a:tc>
                  <a:txBody>
                    <a:bodyPr/>
                    <a:lstStyle/>
                    <a:p>
                      <a:r>
                        <a:rPr lang="en-US" sz="1400" b="0" i="0" u="none" strike="noStrike" cap="none" dirty="0" err="1">
                          <a:solidFill>
                            <a:srgbClr val="000000"/>
                          </a:solidFill>
                          <a:effectLst/>
                          <a:latin typeface="Sitka Small Semibold" pitchFamily="2" charset="0"/>
                          <a:ea typeface="Arial"/>
                          <a:cs typeface="Arial"/>
                          <a:sym typeface="Arial"/>
                        </a:rPr>
                        <a:t>HealthCloud</a:t>
                      </a:r>
                      <a:r>
                        <a:rPr lang="en-US" sz="1400" b="0" i="0" u="none" strike="noStrike" cap="none" dirty="0">
                          <a:solidFill>
                            <a:srgbClr val="000000"/>
                          </a:solidFill>
                          <a:effectLst/>
                          <a:latin typeface="Sitka Small Semibold" pitchFamily="2" charset="0"/>
                          <a:ea typeface="Arial"/>
                          <a:cs typeface="Arial"/>
                          <a:sym typeface="Arial"/>
                        </a:rPr>
                        <a:t>: A system for monitoring health status of heart patients using machine learning and cloud computing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Sitka Small Semibold" pitchFamily="2" charset="0"/>
                          <a:ea typeface="Arial"/>
                          <a:cs typeface="Arial"/>
                          <a:sym typeface="Arial"/>
                        </a:rPr>
                        <a:t>Forum Desai, </a:t>
                      </a:r>
                      <a:r>
                        <a:rPr lang="en-US" sz="1400" b="0" i="0" u="none" strike="noStrike" cap="none" dirty="0" err="1">
                          <a:solidFill>
                            <a:srgbClr val="000000"/>
                          </a:solidFill>
                          <a:effectLst/>
                          <a:latin typeface="Sitka Small Semibold" pitchFamily="2" charset="0"/>
                          <a:ea typeface="Arial"/>
                          <a:cs typeface="Arial"/>
                          <a:sym typeface="Arial"/>
                        </a:rPr>
                        <a:t>Deepraj</a:t>
                      </a:r>
                      <a:r>
                        <a:rPr lang="en-US" sz="1400" b="0" i="0" u="none" strike="noStrike" cap="none" dirty="0">
                          <a:solidFill>
                            <a:srgbClr val="000000"/>
                          </a:solidFill>
                          <a:effectLst/>
                          <a:latin typeface="Sitka Small Semibold" pitchFamily="2" charset="0"/>
                          <a:ea typeface="Arial"/>
                          <a:cs typeface="Arial"/>
                          <a:sym typeface="Arial"/>
                        </a:rPr>
                        <a:t> Chowdhury, Rupinder Kaur, Marloes Peeters, Rajesh Chand Arya, Gurpreet Singh Wander, </a:t>
                      </a:r>
                      <a:r>
                        <a:rPr lang="en-US" sz="1400" b="0" i="0" u="none" strike="noStrike" cap="none" dirty="0" err="1">
                          <a:solidFill>
                            <a:srgbClr val="000000"/>
                          </a:solidFill>
                          <a:effectLst/>
                          <a:latin typeface="Sitka Small Semibold" pitchFamily="2" charset="0"/>
                          <a:ea typeface="Arial"/>
                          <a:cs typeface="Arial"/>
                          <a:sym typeface="Arial"/>
                        </a:rPr>
                        <a:t>Sukhpal</a:t>
                      </a:r>
                      <a:r>
                        <a:rPr lang="en-US" sz="1400" b="0" i="0" u="none" strike="noStrike" cap="none" dirty="0">
                          <a:solidFill>
                            <a:srgbClr val="000000"/>
                          </a:solidFill>
                          <a:effectLst/>
                          <a:latin typeface="Sitka Small Semibold" pitchFamily="2" charset="0"/>
                          <a:ea typeface="Arial"/>
                          <a:cs typeface="Arial"/>
                          <a:sym typeface="Arial"/>
                        </a:rPr>
                        <a:t> Singh Gill, Rajkumar </a:t>
                      </a:r>
                      <a:r>
                        <a:rPr lang="en-US" sz="1400" b="0" i="0" u="none" strike="noStrike" cap="none" dirty="0" err="1">
                          <a:solidFill>
                            <a:srgbClr val="000000"/>
                          </a:solidFill>
                          <a:effectLst/>
                          <a:latin typeface="Sitka Small Semibold" pitchFamily="2" charset="0"/>
                          <a:ea typeface="Arial"/>
                          <a:cs typeface="Arial"/>
                          <a:sym typeface="Arial"/>
                        </a:rPr>
                        <a:t>Buyya</a:t>
                      </a:r>
                      <a:endParaRPr lang="en-US" dirty="0">
                        <a:latin typeface="Sitka Small Semibold" pitchFamily="2" charset="0"/>
                      </a:endParaRPr>
                    </a:p>
                    <a:p>
                      <a:endParaRPr lang="en-US" dirty="0">
                        <a:latin typeface="Sitka Small Semibold"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Sitka Small Semibold" pitchFamily="2" charset="0"/>
                          <a:ea typeface="Arial"/>
                          <a:cs typeface="Arial"/>
                          <a:sym typeface="Arial"/>
                        </a:rPr>
                        <a:t>Early heart disease detection and monitoring is challenging; existing self-diagnosis and home systems lack accuracy and reliability</a:t>
                      </a:r>
                      <a:endParaRPr lang="en-US" dirty="0">
                        <a:latin typeface="Sitka Small Semibold" pitchFamily="2" charset="0"/>
                      </a:endParaRPr>
                    </a:p>
                    <a:p>
                      <a:endParaRPr lang="en-US" dirty="0">
                        <a:latin typeface="Sitka Small Semibold" pitchFamily="2" charset="0"/>
                      </a:endParaRPr>
                    </a:p>
                  </a:txBody>
                  <a:tcPr/>
                </a:tc>
                <a:tc>
                  <a:txBody>
                    <a:bodyPr/>
                    <a:lstStyle/>
                    <a:p>
                      <a:r>
                        <a:rPr lang="en-US" sz="1400" b="0" i="0" u="none" strike="noStrike" cap="none" dirty="0">
                          <a:solidFill>
                            <a:srgbClr val="000000"/>
                          </a:solidFill>
                          <a:effectLst/>
                          <a:latin typeface="Sitka Small Semibold" pitchFamily="2" charset="0"/>
                          <a:ea typeface="Arial"/>
                          <a:cs typeface="Arial"/>
                          <a:sym typeface="Arial"/>
                        </a:rPr>
                        <a:t>Mobile application uses machine learning models (SVC, KNN, NN, LR, GBT) and cloud computing (Google Firebase) for heart disease prediction based on user data</a:t>
                      </a:r>
                      <a:endParaRPr lang="en-US" dirty="0">
                        <a:latin typeface="Sitka Small Semibold" pitchFamily="2" charset="0"/>
                      </a:endParaRPr>
                    </a:p>
                  </a:txBody>
                  <a:tcPr/>
                </a:tc>
                <a:tc>
                  <a:txBody>
                    <a:bodyPr/>
                    <a:lstStyle/>
                    <a:p>
                      <a:r>
                        <a:rPr lang="en-US" sz="1400" b="0" i="0" u="none" strike="noStrike" cap="none" dirty="0">
                          <a:solidFill>
                            <a:srgbClr val="000000"/>
                          </a:solidFill>
                          <a:effectLst/>
                          <a:latin typeface="Sitka Small Semibold" pitchFamily="2" charset="0"/>
                          <a:ea typeface="Arial"/>
                          <a:cs typeface="Arial"/>
                          <a:sym typeface="Arial"/>
                        </a:rPr>
                        <a:t>Logistic Regression was most accurate (85.96%), efficient and responsive; system enables reliable health assessment and real-time monitoring for patients</a:t>
                      </a:r>
                      <a:endParaRPr lang="en-US" dirty="0">
                        <a:latin typeface="Sitka Small Semibold" pitchFamily="2" charset="0"/>
                      </a:endParaRPr>
                    </a:p>
                  </a:txBody>
                  <a:tcPr/>
                </a:tc>
                <a:extLst>
                  <a:ext uri="{0D108BD9-81ED-4DB2-BD59-A6C34878D82A}">
                    <a16:rowId xmlns:a16="http://schemas.microsoft.com/office/drawing/2014/main" val="3802837023"/>
                  </a:ext>
                </a:extLst>
              </a:tr>
            </a:tbl>
          </a:graphicData>
        </a:graphic>
      </p:graphicFrame>
    </p:spTree>
    <p:extLst>
      <p:ext uri="{BB962C8B-B14F-4D97-AF65-F5344CB8AC3E}">
        <p14:creationId xmlns:p14="http://schemas.microsoft.com/office/powerpoint/2010/main" val="410746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EF80-10A5-DFC2-B2E4-FFAAC016FE53}"/>
              </a:ext>
            </a:extLst>
          </p:cNvPr>
          <p:cNvSpPr>
            <a:spLocks noGrp="1"/>
          </p:cNvSpPr>
          <p:nvPr>
            <p:ph type="title"/>
          </p:nvPr>
        </p:nvSpPr>
        <p:spPr>
          <a:xfrm>
            <a:off x="415600" y="278969"/>
            <a:ext cx="11360700" cy="887873"/>
          </a:xfrm>
        </p:spPr>
        <p:txBody>
          <a:bodyPr>
            <a:normAutofit/>
          </a:bodyPr>
          <a:lstStyle/>
          <a:p>
            <a:r>
              <a:rPr lang="en-US" sz="2400" dirty="0">
                <a:latin typeface="Sitka Small Semibold" pitchFamily="2" charset="0"/>
              </a:rPr>
              <a:t>                     Novelty (What’s New in our Work?)</a:t>
            </a:r>
          </a:p>
        </p:txBody>
      </p:sp>
      <p:sp>
        <p:nvSpPr>
          <p:cNvPr id="4" name="Slide Number Placeholder 3">
            <a:extLst>
              <a:ext uri="{FF2B5EF4-FFF2-40B4-BE49-F238E27FC236}">
                <a16:creationId xmlns:a16="http://schemas.microsoft.com/office/drawing/2014/main" id="{9784EFD1-2AF8-2A5B-DD46-04BD9DDFE8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Rectangle 1">
            <a:extLst>
              <a:ext uri="{FF2B5EF4-FFF2-40B4-BE49-F238E27FC236}">
                <a16:creationId xmlns:a16="http://schemas.microsoft.com/office/drawing/2014/main" id="{29D1EB34-D8CD-6BDC-27CA-0D508F44BE25}"/>
              </a:ext>
            </a:extLst>
          </p:cNvPr>
          <p:cNvSpPr>
            <a:spLocks noGrp="1" noChangeArrowheads="1"/>
          </p:cNvSpPr>
          <p:nvPr>
            <p:ph type="body" idx="1"/>
          </p:nvPr>
        </p:nvSpPr>
        <p:spPr bwMode="auto">
          <a:xfrm>
            <a:off x="725566" y="887872"/>
            <a:ext cx="92553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Sitka Small Semibold" pitchFamily="2" charset="0"/>
              </a:rPr>
              <a:t>Integration of </a:t>
            </a:r>
            <a:r>
              <a:rPr kumimoji="0" lang="en-US" altLang="en-US" sz="1800" b="1" i="0" u="none" strike="noStrike" cap="none" normalizeH="0" baseline="0" dirty="0">
                <a:ln>
                  <a:noFill/>
                </a:ln>
                <a:solidFill>
                  <a:schemeClr val="tx1"/>
                </a:solidFill>
                <a:effectLst/>
                <a:latin typeface="Sitka Small Semibold" pitchFamily="2" charset="0"/>
              </a:rPr>
              <a:t>low-cost sensors (Pulse + DHT11 + ADS1115)</a:t>
            </a:r>
            <a:r>
              <a:rPr kumimoji="0" lang="en-US" altLang="en-US" sz="1800" b="0" i="0" u="none" strike="noStrike" cap="none" normalizeH="0" baseline="0" dirty="0">
                <a:ln>
                  <a:noFill/>
                </a:ln>
                <a:solidFill>
                  <a:schemeClr val="tx1"/>
                </a:solidFill>
                <a:effectLst/>
                <a:latin typeface="Sitka Small Semibold" pitchFamily="2" charset="0"/>
              </a:rPr>
              <a:t> with </a:t>
            </a:r>
            <a:r>
              <a:rPr kumimoji="0" lang="en-US" altLang="en-US" sz="1800" b="1" i="0" u="none" strike="noStrike" cap="none" normalizeH="0" baseline="0" dirty="0" err="1">
                <a:ln>
                  <a:noFill/>
                </a:ln>
                <a:solidFill>
                  <a:schemeClr val="tx1"/>
                </a:solidFill>
                <a:effectLst/>
                <a:latin typeface="Sitka Small Semibold" pitchFamily="2" charset="0"/>
              </a:rPr>
              <a:t>NodeMCU</a:t>
            </a:r>
            <a:r>
              <a:rPr kumimoji="0" lang="en-US" altLang="en-US" sz="1800" b="1" i="0" u="none" strike="noStrike" cap="none" normalizeH="0" baseline="0" dirty="0">
                <a:ln>
                  <a:noFill/>
                </a:ln>
                <a:solidFill>
                  <a:schemeClr val="tx1"/>
                </a:solidFill>
                <a:effectLst/>
                <a:latin typeface="Sitka Small Semibold" pitchFamily="2" charset="0"/>
              </a:rPr>
              <a:t> ESP8266</a:t>
            </a:r>
            <a:r>
              <a:rPr kumimoji="0" lang="en-US" altLang="en-US" sz="1800" b="0" i="0" u="none" strike="noStrike" cap="none" normalizeH="0" baseline="0" dirty="0">
                <a:ln>
                  <a:noFill/>
                </a:ln>
                <a:solidFill>
                  <a:schemeClr val="tx1"/>
                </a:solidFill>
                <a:effectLst/>
                <a:latin typeface="Sitka Small Semibold" pitchFamily="2" charset="0"/>
              </a:rPr>
              <a:t> for real-time cloud monitoring.</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Sitka Small Semibold" pitchFamily="2" charset="0"/>
              </a:rPr>
              <a:t>Unlike existing systems, data is not just shown locally but </a:t>
            </a:r>
            <a:r>
              <a:rPr kumimoji="0" lang="en-US" altLang="en-US" sz="1800" b="1" i="0" u="none" strike="noStrike" cap="none" normalizeH="0" baseline="0" dirty="0">
                <a:ln>
                  <a:noFill/>
                </a:ln>
                <a:solidFill>
                  <a:schemeClr val="tx1"/>
                </a:solidFill>
                <a:effectLst/>
                <a:latin typeface="Sitka Small Semibold" pitchFamily="2" charset="0"/>
              </a:rPr>
              <a:t>transmitted to the cloud for remote access</a:t>
            </a:r>
            <a:r>
              <a:rPr kumimoji="0" lang="en-US" altLang="en-US" sz="1800" b="0" i="0" u="none" strike="noStrike" cap="none" normalizeH="0" baseline="0" dirty="0">
                <a:ln>
                  <a:noFill/>
                </a:ln>
                <a:solidFill>
                  <a:schemeClr val="tx1"/>
                </a:solidFill>
                <a:effectLst/>
                <a:latin typeface="Sitka Small Semibold" pitchFamily="2" charset="0"/>
              </a:rPr>
              <a:t>.</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Sitka Small Semibold" pitchFamily="2" charset="0"/>
              </a:rPr>
              <a:t>Use of </a:t>
            </a:r>
            <a:r>
              <a:rPr kumimoji="0" lang="en-US" altLang="en-US" sz="1800" b="1" i="0" u="none" strike="noStrike" cap="none" normalizeH="0" baseline="0" dirty="0">
                <a:ln>
                  <a:noFill/>
                </a:ln>
                <a:solidFill>
                  <a:schemeClr val="tx1"/>
                </a:solidFill>
                <a:effectLst/>
                <a:latin typeface="Sitka Small Semibold" pitchFamily="2" charset="0"/>
              </a:rPr>
              <a:t>OLED display</a:t>
            </a:r>
            <a:r>
              <a:rPr kumimoji="0" lang="en-US" altLang="en-US" sz="1800" b="0" i="0" u="none" strike="noStrike" cap="none" normalizeH="0" baseline="0" dirty="0">
                <a:ln>
                  <a:noFill/>
                </a:ln>
                <a:solidFill>
                  <a:schemeClr val="tx1"/>
                </a:solidFill>
                <a:effectLst/>
                <a:latin typeface="Sitka Small Semibold" pitchFamily="2" charset="0"/>
              </a:rPr>
              <a:t> for immediate field feedback while also enabling </a:t>
            </a:r>
            <a:r>
              <a:rPr kumimoji="0" lang="en-US" altLang="en-US" sz="1800" b="1" i="0" u="none" strike="noStrike" cap="none" normalizeH="0" baseline="0" dirty="0">
                <a:ln>
                  <a:noFill/>
                </a:ln>
                <a:solidFill>
                  <a:schemeClr val="tx1"/>
                </a:solidFill>
                <a:effectLst/>
                <a:latin typeface="Sitka Small Semibold" pitchFamily="2" charset="0"/>
              </a:rPr>
              <a:t>cloud visualization</a:t>
            </a:r>
            <a:r>
              <a:rPr kumimoji="0" lang="en-US" altLang="en-US" sz="1800" b="0" i="0" u="none" strike="noStrike" cap="none" normalizeH="0" baseline="0" dirty="0">
                <a:ln>
                  <a:noFill/>
                </a:ln>
                <a:solidFill>
                  <a:schemeClr val="tx1"/>
                </a:solidFill>
                <a:effectLst/>
                <a:latin typeface="Sitka Small Semibold" pitchFamily="2" charset="0"/>
              </a:rPr>
              <a:t>.</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Sitka Small Semibold" pitchFamily="2" charset="0"/>
              </a:rPr>
              <a:t>System designed to be </a:t>
            </a:r>
            <a:r>
              <a:rPr kumimoji="0" lang="en-US" altLang="en-US" sz="1800" b="1" i="0" u="none" strike="noStrike" cap="none" normalizeH="0" baseline="0" dirty="0">
                <a:ln>
                  <a:noFill/>
                </a:ln>
                <a:solidFill>
                  <a:schemeClr val="tx1"/>
                </a:solidFill>
                <a:effectLst/>
                <a:latin typeface="Sitka Small Semibold" pitchFamily="2" charset="0"/>
              </a:rPr>
              <a:t>portable, lightweight, and adaptable</a:t>
            </a:r>
            <a:r>
              <a:rPr kumimoji="0" lang="en-US" altLang="en-US" sz="1800" b="0" i="0" u="none" strike="noStrike" cap="none" normalizeH="0" baseline="0" dirty="0">
                <a:ln>
                  <a:noFill/>
                </a:ln>
                <a:solidFill>
                  <a:schemeClr val="tx1"/>
                </a:solidFill>
                <a:effectLst/>
                <a:latin typeface="Sitka Small Semibold" pitchFamily="2" charset="0"/>
              </a:rPr>
              <a:t> for both soldiers and workers in extreme environments.</a:t>
            </a:r>
          </a:p>
        </p:txBody>
      </p:sp>
    </p:spTree>
    <p:extLst>
      <p:ext uri="{BB962C8B-B14F-4D97-AF65-F5344CB8AC3E}">
        <p14:creationId xmlns:p14="http://schemas.microsoft.com/office/powerpoint/2010/main" val="2143764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80E7-1C39-4474-9A9B-0F00DDB95677}"/>
              </a:ext>
            </a:extLst>
          </p:cNvPr>
          <p:cNvSpPr>
            <a:spLocks noGrp="1"/>
          </p:cNvSpPr>
          <p:nvPr>
            <p:ph type="title"/>
          </p:nvPr>
        </p:nvSpPr>
        <p:spPr>
          <a:xfrm>
            <a:off x="415600" y="247974"/>
            <a:ext cx="11360700" cy="635430"/>
          </a:xfrm>
        </p:spPr>
        <p:txBody>
          <a:bodyPr>
            <a:normAutofit/>
          </a:bodyPr>
          <a:lstStyle/>
          <a:p>
            <a:r>
              <a:rPr lang="en-US" sz="2400" dirty="0">
                <a:latin typeface="Sitka Small Semibold" pitchFamily="2" charset="0"/>
              </a:rPr>
              <a:t>                Social Importance (Why Does It Matter?)</a:t>
            </a:r>
          </a:p>
        </p:txBody>
      </p:sp>
      <p:sp>
        <p:nvSpPr>
          <p:cNvPr id="3" name="Text Placeholder 2">
            <a:extLst>
              <a:ext uri="{FF2B5EF4-FFF2-40B4-BE49-F238E27FC236}">
                <a16:creationId xmlns:a16="http://schemas.microsoft.com/office/drawing/2014/main" id="{3DB6D41B-C3D1-3B18-F2E6-F4B74A614C5C}"/>
              </a:ext>
            </a:extLst>
          </p:cNvPr>
          <p:cNvSpPr>
            <a:spLocks noGrp="1"/>
          </p:cNvSpPr>
          <p:nvPr>
            <p:ph type="body" idx="1"/>
          </p:nvPr>
        </p:nvSpPr>
        <p:spPr>
          <a:xfrm>
            <a:off x="301761" y="712182"/>
            <a:ext cx="11360700" cy="4555200"/>
          </a:xfrm>
        </p:spPr>
        <p:txBody>
          <a:bodyPr>
            <a:noAutofit/>
          </a:bodyPr>
          <a:lstStyle/>
          <a:p>
            <a:pPr>
              <a:lnSpc>
                <a:spcPct val="200000"/>
              </a:lnSpc>
            </a:pPr>
            <a:r>
              <a:rPr lang="en-US" sz="1800" dirty="0">
                <a:latin typeface="Sitka Small Semibold" pitchFamily="2" charset="0"/>
              </a:rPr>
              <a:t>Provides </a:t>
            </a:r>
            <a:r>
              <a:rPr lang="en-US" sz="1800" b="1" dirty="0">
                <a:latin typeface="Sitka Small Semibold" pitchFamily="2" charset="0"/>
              </a:rPr>
              <a:t>continuous health monitoring</a:t>
            </a:r>
            <a:r>
              <a:rPr lang="en-US" sz="1800" dirty="0">
                <a:latin typeface="Sitka Small Semibold" pitchFamily="2" charset="0"/>
              </a:rPr>
              <a:t> in </a:t>
            </a:r>
            <a:r>
              <a:rPr lang="en-US" sz="1800" b="1" dirty="0">
                <a:latin typeface="Sitka Small Semibold" pitchFamily="2" charset="0"/>
              </a:rPr>
              <a:t>hostile / remote conditions</a:t>
            </a:r>
            <a:r>
              <a:rPr lang="en-US" sz="1800" dirty="0">
                <a:latin typeface="Sitka Small Semibold" pitchFamily="2" charset="0"/>
              </a:rPr>
              <a:t> where medical support is not immediately available.</a:t>
            </a:r>
          </a:p>
          <a:p>
            <a:pPr>
              <a:lnSpc>
                <a:spcPct val="200000"/>
              </a:lnSpc>
            </a:pPr>
            <a:r>
              <a:rPr lang="en-US" sz="1800" dirty="0">
                <a:latin typeface="Sitka Small Semibold" pitchFamily="2" charset="0"/>
              </a:rPr>
              <a:t>Helps prevent </a:t>
            </a:r>
            <a:r>
              <a:rPr lang="en-US" sz="1800" b="1" dirty="0">
                <a:latin typeface="Sitka Small Semibold" pitchFamily="2" charset="0"/>
              </a:rPr>
              <a:t>sudden health crises</a:t>
            </a:r>
            <a:r>
              <a:rPr lang="en-US" sz="1800" dirty="0">
                <a:latin typeface="Sitka Small Semibold" pitchFamily="2" charset="0"/>
              </a:rPr>
              <a:t> (cardiac arrest, dehydration, fatigue) by </a:t>
            </a:r>
            <a:r>
              <a:rPr lang="en-US" sz="1800" b="1" dirty="0">
                <a:latin typeface="Sitka Small Semibold" pitchFamily="2" charset="0"/>
              </a:rPr>
              <a:t>early detection</a:t>
            </a:r>
            <a:r>
              <a:rPr lang="en-US" sz="1800" dirty="0">
                <a:latin typeface="Sitka Small Semibold" pitchFamily="2" charset="0"/>
              </a:rPr>
              <a:t>.</a:t>
            </a:r>
          </a:p>
          <a:p>
            <a:pPr>
              <a:lnSpc>
                <a:spcPct val="200000"/>
              </a:lnSpc>
            </a:pPr>
            <a:r>
              <a:rPr lang="en-US" sz="1800" dirty="0">
                <a:latin typeface="Sitka Small Semibold" pitchFamily="2" charset="0"/>
              </a:rPr>
              <a:t>Enables </a:t>
            </a:r>
            <a:r>
              <a:rPr lang="en-US" sz="1800" b="1" dirty="0">
                <a:latin typeface="Sitka Small Semibold" pitchFamily="2" charset="0"/>
              </a:rPr>
              <a:t>command centers / supervisors</a:t>
            </a:r>
            <a:r>
              <a:rPr lang="en-US" sz="1800" dirty="0">
                <a:latin typeface="Sitka Small Semibold" pitchFamily="2" charset="0"/>
              </a:rPr>
              <a:t> to track the health of soldiers or workers in real time, ensuring </a:t>
            </a:r>
            <a:r>
              <a:rPr lang="en-US" sz="1800" b="1" dirty="0">
                <a:latin typeface="Sitka Small Semibold" pitchFamily="2" charset="0"/>
              </a:rPr>
              <a:t>safety &amp; timely intervention</a:t>
            </a:r>
            <a:r>
              <a:rPr lang="en-US" sz="1800" dirty="0">
                <a:latin typeface="Sitka Small Semibold" pitchFamily="2" charset="0"/>
              </a:rPr>
              <a:t>.</a:t>
            </a:r>
          </a:p>
          <a:p>
            <a:pPr>
              <a:lnSpc>
                <a:spcPct val="200000"/>
              </a:lnSpc>
            </a:pPr>
            <a:r>
              <a:rPr lang="en-US" sz="1800" dirty="0">
                <a:latin typeface="Sitka Small Semibold" pitchFamily="2" charset="0"/>
              </a:rPr>
              <a:t>Can be extended to </a:t>
            </a:r>
            <a:r>
              <a:rPr lang="en-US" sz="1800" b="1" dirty="0">
                <a:latin typeface="Sitka Small Semibold" pitchFamily="2" charset="0"/>
              </a:rPr>
              <a:t>civilian use</a:t>
            </a:r>
            <a:r>
              <a:rPr lang="en-US" sz="1800" dirty="0">
                <a:latin typeface="Sitka Small Semibold" pitchFamily="2" charset="0"/>
              </a:rPr>
              <a:t>: disaster relief workers, miners, firefighters, and elderly care.</a:t>
            </a:r>
          </a:p>
          <a:p>
            <a:pPr>
              <a:lnSpc>
                <a:spcPct val="200000"/>
              </a:lnSpc>
            </a:pPr>
            <a:r>
              <a:rPr lang="en-US" sz="1800" dirty="0">
                <a:latin typeface="Sitka Small Semibold" pitchFamily="2" charset="0"/>
              </a:rPr>
              <a:t>Promotes </a:t>
            </a:r>
            <a:r>
              <a:rPr lang="en-US" sz="1800" b="1" dirty="0">
                <a:latin typeface="Sitka Small Semibold" pitchFamily="2" charset="0"/>
              </a:rPr>
              <a:t>affordable and scalable healthcare monitoring</a:t>
            </a:r>
            <a:r>
              <a:rPr lang="en-US" sz="1800" dirty="0">
                <a:latin typeface="Sitka Small Semibold" pitchFamily="2" charset="0"/>
              </a:rPr>
              <a:t>, especially in resource-limited areas.</a:t>
            </a:r>
          </a:p>
          <a:p>
            <a:pPr>
              <a:lnSpc>
                <a:spcPct val="200000"/>
              </a:lnSpc>
            </a:pPr>
            <a:endParaRPr lang="en-US" sz="1800" dirty="0">
              <a:latin typeface="Sitka Small Semibold" pitchFamily="2" charset="0"/>
            </a:endParaRPr>
          </a:p>
        </p:txBody>
      </p:sp>
      <p:sp>
        <p:nvSpPr>
          <p:cNvPr id="4" name="Slide Number Placeholder 3">
            <a:extLst>
              <a:ext uri="{FF2B5EF4-FFF2-40B4-BE49-F238E27FC236}">
                <a16:creationId xmlns:a16="http://schemas.microsoft.com/office/drawing/2014/main" id="{2DC24A51-1FFF-6D93-BAEA-AC7F9A3D20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785056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pic>
        <p:nvPicPr>
          <p:cNvPr id="2051" name="Picture 3" descr="HW827 Pulse/Heart Beat Sensor">
            <a:extLst>
              <a:ext uri="{FF2B5EF4-FFF2-40B4-BE49-F238E27FC236}">
                <a16:creationId xmlns:a16="http://schemas.microsoft.com/office/drawing/2014/main" id="{E2067AB4-492D-F6AF-88D7-64DC4059F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6825" y="726132"/>
            <a:ext cx="2199467" cy="219946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1258194" y="3785214"/>
            <a:ext cx="11326761" cy="5735761"/>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984626" y="49396"/>
            <a:ext cx="10515600" cy="493857"/>
          </a:xfrm>
          <a:prstGeom prst="rect">
            <a:avLst/>
          </a:prstGeom>
          <a:noFill/>
          <a:ln>
            <a:noFill/>
          </a:ln>
        </p:spPr>
        <p:txBody>
          <a:bodyPr spcFirstLastPara="1" wrap="square" lIns="91425" tIns="45700" rIns="91425" bIns="45700" anchor="t" anchorCtr="0">
            <a:noAutofit/>
          </a:bodyPr>
          <a:lstStyle/>
          <a:p>
            <a:pPr lvl="0" algn="ctr">
              <a:buSzPts val="2400"/>
            </a:pPr>
            <a:r>
              <a:rPr lang="en-US" sz="2400" b="1" dirty="0">
                <a:latin typeface="Sitka Small Semibold" pitchFamily="2" charset="0"/>
              </a:rPr>
              <a:t>Component Required</a:t>
            </a:r>
            <a:endParaRPr lang="en-US" sz="2400" b="1" i="0" u="none" strike="noStrike" cap="none" dirty="0">
              <a:solidFill>
                <a:srgbClr val="000000"/>
              </a:solidFill>
              <a:latin typeface="Sitka Small Semibold" pitchFamily="2" charset="0"/>
              <a:sym typeface="Arial"/>
            </a:endParaRPr>
          </a:p>
        </p:txBody>
      </p:sp>
      <p:sp>
        <p:nvSpPr>
          <p:cNvPr id="2" name="Rectangle 1">
            <a:extLst>
              <a:ext uri="{FF2B5EF4-FFF2-40B4-BE49-F238E27FC236}">
                <a16:creationId xmlns:a16="http://schemas.microsoft.com/office/drawing/2014/main" id="{03BA0ADE-629D-34E5-52D2-D7DE555307CB}"/>
              </a:ext>
            </a:extLst>
          </p:cNvPr>
          <p:cNvSpPr>
            <a:spLocks noChangeArrowheads="1"/>
          </p:cNvSpPr>
          <p:nvPr/>
        </p:nvSpPr>
        <p:spPr bwMode="auto">
          <a:xfrm>
            <a:off x="191136" y="370831"/>
            <a:ext cx="7637027" cy="637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Sitka Small Semibold" pitchFamily="2" charset="0"/>
              </a:rPr>
              <a:t>Pulse Sensor (HW-827)</a:t>
            </a:r>
            <a:endParaRPr kumimoji="0" lang="en-US" altLang="en-US" sz="1800" b="0" i="0" u="none" strike="noStrike" cap="none" normalizeH="0" baseline="0" dirty="0">
              <a:ln>
                <a:noFill/>
              </a:ln>
              <a:solidFill>
                <a:schemeClr val="tx1"/>
              </a:solidFill>
              <a:effectLst/>
              <a:latin typeface="Sitka Small Semibold" pitchFamily="2"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Captures heartbeat signals from the fingertip.</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Outputs weak analog voltage proportional to heartbeat.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Requires filtering/resistor to reduce noise.</a:t>
            </a:r>
          </a:p>
          <a:p>
            <a:r>
              <a:rPr lang="en-US" sz="1800" dirty="0">
                <a:latin typeface="Sitka Text Semibold" pitchFamily="2" charset="0"/>
              </a:rPr>
              <a:t>Arduino Uno </a:t>
            </a:r>
          </a:p>
          <a:p>
            <a:pPr marL="285750" indent="-285750">
              <a:lnSpc>
                <a:spcPct val="200000"/>
              </a:lnSpc>
              <a:buFont typeface="Arial" panose="020B0604020202020204" pitchFamily="34" charset="0"/>
              <a:buChar char="•"/>
            </a:pPr>
            <a:r>
              <a:rPr lang="en-US" sz="1800" dirty="0">
                <a:latin typeface="Sitka Text Semibold" pitchFamily="2" charset="0"/>
              </a:rPr>
              <a:t>Microcontroller board that processes sensor inputs and </a:t>
            </a:r>
          </a:p>
          <a:p>
            <a:pPr>
              <a:lnSpc>
                <a:spcPct val="200000"/>
              </a:lnSpc>
            </a:pPr>
            <a:r>
              <a:rPr lang="en-US" sz="1800" dirty="0">
                <a:latin typeface="Sitka Text Semibold" pitchFamily="2" charset="0"/>
              </a:rPr>
              <a:t>controls output devices.</a:t>
            </a:r>
          </a:p>
          <a:p>
            <a:pPr marL="285750" indent="-285750">
              <a:lnSpc>
                <a:spcPct val="200000"/>
              </a:lnSpc>
              <a:buFont typeface="Arial" panose="020B0604020202020204" pitchFamily="34" charset="0"/>
              <a:buChar char="•"/>
            </a:pPr>
            <a:r>
              <a:rPr lang="en-US" sz="1800" dirty="0">
                <a:latin typeface="Sitka Text Semibold" pitchFamily="2" charset="0"/>
              </a:rPr>
              <a:t>Provides 14 digital &amp; 6 analog pins for connecting sensors, </a:t>
            </a:r>
          </a:p>
          <a:p>
            <a:pPr>
              <a:lnSpc>
                <a:spcPct val="200000"/>
              </a:lnSpc>
            </a:pPr>
            <a:r>
              <a:rPr lang="en-US" sz="1800" dirty="0">
                <a:latin typeface="Sitka Text Semibold" pitchFamily="2" charset="0"/>
              </a:rPr>
              <a:t>modules, and actuators.</a:t>
            </a:r>
          </a:p>
          <a:p>
            <a:pPr marL="285750" indent="-285750">
              <a:lnSpc>
                <a:spcPct val="200000"/>
              </a:lnSpc>
              <a:buFont typeface="Arial" panose="020B0604020202020204" pitchFamily="34" charset="0"/>
              <a:buChar char="•"/>
            </a:pPr>
            <a:r>
              <a:rPr lang="en-US" sz="1800" dirty="0">
                <a:latin typeface="Sitka Text Semibold" pitchFamily="2" charset="0"/>
              </a:rPr>
              <a:t>Runs at 5V and includes USB programming + built-in regulators</a:t>
            </a:r>
          </a:p>
          <a:p>
            <a:pPr>
              <a:lnSpc>
                <a:spcPct val="200000"/>
              </a:lnSpc>
            </a:pPr>
            <a:r>
              <a:rPr lang="en-US" sz="1800" dirty="0">
                <a:latin typeface="Sitka Text Semibold" pitchFamily="2" charset="0"/>
              </a:rPr>
              <a:t> for stable operation.</a:t>
            </a:r>
          </a:p>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Sitka Small Semibold" pitchFamily="2" charset="0"/>
            </a:endParaRPr>
          </a:p>
        </p:txBody>
      </p:sp>
      <p:pic>
        <p:nvPicPr>
          <p:cNvPr id="1026" name="Picture 2" descr="UNO R3 Development Board - ATMEGA328P ...">
            <a:extLst>
              <a:ext uri="{FF2B5EF4-FFF2-40B4-BE49-F238E27FC236}">
                <a16:creationId xmlns:a16="http://schemas.microsoft.com/office/drawing/2014/main" id="{11B9DCA8-9288-F62E-6771-551C04354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8997" y="3612397"/>
            <a:ext cx="3097722" cy="2199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190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endParaRPr lang="en-US" sz="14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62F083D-8B3E-797C-AEEF-30F95DC88758}"/>
              </a:ext>
            </a:extLst>
          </p:cNvPr>
          <p:cNvSpPr>
            <a:spLocks noChangeArrowheads="1"/>
          </p:cNvSpPr>
          <p:nvPr/>
        </p:nvSpPr>
        <p:spPr bwMode="auto">
          <a:xfrm>
            <a:off x="676276" y="553357"/>
            <a:ext cx="11008142" cy="6101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err="1">
                <a:ln>
                  <a:noFill/>
                </a:ln>
                <a:solidFill>
                  <a:schemeClr val="tx1"/>
                </a:solidFill>
                <a:effectLst/>
                <a:latin typeface="Sitka Small Semibold" pitchFamily="2" charset="0"/>
              </a:rPr>
              <a:t>NodeMCU</a:t>
            </a:r>
            <a:r>
              <a:rPr kumimoji="0" lang="en-US" altLang="en-US" sz="1800" b="1" i="0" u="none" strike="noStrike" cap="none" normalizeH="0" baseline="0" dirty="0">
                <a:ln>
                  <a:noFill/>
                </a:ln>
                <a:solidFill>
                  <a:schemeClr val="tx1"/>
                </a:solidFill>
                <a:effectLst/>
                <a:latin typeface="Sitka Small Semibold" pitchFamily="2" charset="0"/>
              </a:rPr>
              <a:t> ESP8266</a:t>
            </a:r>
            <a:endParaRPr kumimoji="0" lang="en-US" altLang="en-US" sz="1800" b="0" i="0" u="none" strike="noStrike" cap="none" normalizeH="0" baseline="0" dirty="0">
              <a:ln>
                <a:noFill/>
              </a:ln>
              <a:solidFill>
                <a:schemeClr val="tx1"/>
              </a:solidFill>
              <a:effectLst/>
              <a:latin typeface="Sitka Small Semibold"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Main controller and Wi-Fi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Collects sensor data from ADS1115.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Sends heartbeat values to </a:t>
            </a:r>
            <a:r>
              <a:rPr kumimoji="0" lang="en-US" altLang="en-US" sz="1800" b="1" i="0" u="none" strike="noStrike" cap="none" normalizeH="0" baseline="0" dirty="0">
                <a:ln>
                  <a:noFill/>
                </a:ln>
                <a:solidFill>
                  <a:schemeClr val="tx1"/>
                </a:solidFill>
                <a:effectLst/>
                <a:latin typeface="Sitka Small Semibold" pitchFamily="2" charset="0"/>
              </a:rPr>
              <a:t>cloud server</a:t>
            </a:r>
            <a:r>
              <a:rPr kumimoji="0" lang="en-US" altLang="en-US" sz="1800" b="0" i="0" u="none" strike="noStrike" cap="none" normalizeH="0" baseline="0" dirty="0">
                <a:ln>
                  <a:noFill/>
                </a:ln>
                <a:solidFill>
                  <a:schemeClr val="tx1"/>
                </a:solidFill>
                <a:effectLst/>
                <a:latin typeface="Sitka Small Semibold" pitchFamily="2" charset="0"/>
              </a:rPr>
              <a:t> for remote monitoring.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Controls local OLED display.</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Sitka Small Semibold" pitchFamily="2"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Sitka Small Semibold" pitchFamily="2" charset="0"/>
              </a:rPr>
              <a:t>OLED Display (SSD1306, I2C)</a:t>
            </a:r>
            <a:endParaRPr kumimoji="0" lang="en-US" altLang="en-US" sz="1800" b="0" i="0" u="none" strike="noStrike" cap="none" normalizeH="0" baseline="0" dirty="0">
              <a:ln>
                <a:noFill/>
              </a:ln>
              <a:solidFill>
                <a:schemeClr val="tx1"/>
              </a:solidFill>
              <a:effectLst/>
              <a:latin typeface="Sitka Small Semibold"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Shows </a:t>
            </a:r>
            <a:r>
              <a:rPr kumimoji="0" lang="en-US" altLang="en-US" sz="1800" b="1" i="0" u="none" strike="noStrike" cap="none" normalizeH="0" baseline="0" dirty="0">
                <a:ln>
                  <a:noFill/>
                </a:ln>
                <a:solidFill>
                  <a:schemeClr val="tx1"/>
                </a:solidFill>
                <a:effectLst/>
                <a:latin typeface="Sitka Small Semibold" pitchFamily="2" charset="0"/>
              </a:rPr>
              <a:t>real-time waveform</a:t>
            </a:r>
            <a:r>
              <a:rPr kumimoji="0" lang="en-US" altLang="en-US" sz="1800" b="0" i="0" u="none" strike="noStrike" cap="none" normalizeH="0" baseline="0" dirty="0">
                <a:ln>
                  <a:noFill/>
                </a:ln>
                <a:solidFill>
                  <a:schemeClr val="tx1"/>
                </a:solidFill>
                <a:effectLst/>
                <a:latin typeface="Sitka Small Semibold" pitchFamily="2" charset="0"/>
              </a:rPr>
              <a:t> of heartbeat locally.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Useful for immediate field feedback even without internet.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itka Small Semibold" pitchFamily="2" charset="0"/>
              </a:rPr>
              <a:t>Cloud (Firebase etc.)</a:t>
            </a:r>
            <a:endParaRPr kumimoji="0" lang="en-US" altLang="en-US" sz="1800" b="0" i="0" u="none" strike="noStrike" cap="none" normalizeH="0" baseline="0" dirty="0">
              <a:ln>
                <a:noFill/>
              </a:ln>
              <a:solidFill>
                <a:schemeClr val="tx1"/>
              </a:solidFill>
              <a:effectLst/>
              <a:latin typeface="Sitka Small Semibold"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Stores continuous health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Provides </a:t>
            </a:r>
            <a:r>
              <a:rPr kumimoji="0" lang="en-US" altLang="en-US" sz="1800" b="1" i="0" u="none" strike="noStrike" cap="none" normalizeH="0" baseline="0" dirty="0">
                <a:ln>
                  <a:noFill/>
                </a:ln>
                <a:solidFill>
                  <a:schemeClr val="tx1"/>
                </a:solidFill>
                <a:effectLst/>
                <a:latin typeface="Sitka Small Semibold" pitchFamily="2" charset="0"/>
              </a:rPr>
              <a:t>remote visualization dashboards</a:t>
            </a:r>
            <a:r>
              <a:rPr kumimoji="0" lang="en-US" altLang="en-US" sz="1800" b="0" i="0" u="none" strike="noStrike" cap="none" normalizeH="0" baseline="0" dirty="0">
                <a:ln>
                  <a:noFill/>
                </a:ln>
                <a:solidFill>
                  <a:schemeClr val="tx1"/>
                </a:solidFill>
                <a:effectLst/>
                <a:latin typeface="Sitka Small Semibold" pitchFamily="2" charset="0"/>
              </a:rPr>
              <a:t> for doctors, supervisors, or command centers.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Sitka Small Semibold" pitchFamily="2" charset="0"/>
              </a:rPr>
              <a:t>Enables </a:t>
            </a:r>
            <a:r>
              <a:rPr kumimoji="0" lang="en-US" altLang="en-US" sz="1800" b="1" i="0" u="none" strike="noStrike" cap="none" normalizeH="0" baseline="0" dirty="0">
                <a:ln>
                  <a:noFill/>
                </a:ln>
                <a:solidFill>
                  <a:schemeClr val="tx1"/>
                </a:solidFill>
                <a:effectLst/>
                <a:latin typeface="Sitka Small Semibold" pitchFamily="2" charset="0"/>
              </a:rPr>
              <a:t>alerts/notifications</a:t>
            </a:r>
            <a:r>
              <a:rPr kumimoji="0" lang="en-US" altLang="en-US" sz="1800" b="0" i="0" u="none" strike="noStrike" cap="none" normalizeH="0" baseline="0" dirty="0">
                <a:ln>
                  <a:noFill/>
                </a:ln>
                <a:solidFill>
                  <a:schemeClr val="tx1"/>
                </a:solidFill>
                <a:effectLst/>
                <a:latin typeface="Sitka Small Semibold" pitchFamily="2" charset="0"/>
              </a:rPr>
              <a:t> in abnormal conditions.</a:t>
            </a:r>
          </a:p>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Sitka Small Semibold" pitchFamily="2" charset="0"/>
            </a:endParaRPr>
          </a:p>
        </p:txBody>
      </p:sp>
      <p:sp>
        <p:nvSpPr>
          <p:cNvPr id="8" name="AutoShape 7" descr="Large, zoomable image of Arduino NodeMCU ESP8266 TPX00165. 1 of 2">
            <a:extLst>
              <a:ext uri="{FF2B5EF4-FFF2-40B4-BE49-F238E27FC236}">
                <a16:creationId xmlns:a16="http://schemas.microsoft.com/office/drawing/2014/main" id="{4A598EE5-D189-DDBA-EC06-BA90E51D7B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1" name="Picture 9" descr="NodeMCU ESP8266 CH340G Wifi Development Board">
            <a:extLst>
              <a:ext uri="{FF2B5EF4-FFF2-40B4-BE49-F238E27FC236}">
                <a16:creationId xmlns:a16="http://schemas.microsoft.com/office/drawing/2014/main" id="{C187C2D8-8CB0-0284-6180-D7D96C065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4503" y="232275"/>
            <a:ext cx="3067373" cy="3067373"/>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descr="SSD1306 OLED Display - ESPHome - Smart ...">
            <a:extLst>
              <a:ext uri="{FF2B5EF4-FFF2-40B4-BE49-F238E27FC236}">
                <a16:creationId xmlns:a16="http://schemas.microsoft.com/office/drawing/2014/main" id="{9F83124F-548B-F0C0-21C4-E271B234A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4201" y="3621371"/>
            <a:ext cx="2957675" cy="1739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468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A98ADC-B3B4-64F4-4D5C-2101F560DA55}"/>
              </a:ext>
            </a:extLst>
          </p:cNvPr>
          <p:cNvSpPr>
            <a:spLocks noGrp="1"/>
          </p:cNvSpPr>
          <p:nvPr>
            <p:ph type="body" idx="1"/>
          </p:nvPr>
        </p:nvSpPr>
        <p:spPr>
          <a:xfrm>
            <a:off x="415650" y="264905"/>
            <a:ext cx="11360700" cy="5642382"/>
          </a:xfrm>
        </p:spPr>
        <p:txBody>
          <a:bodyPr/>
          <a:lstStyle/>
          <a:p>
            <a:r>
              <a:rPr lang="en-US" sz="2000" b="1" dirty="0">
                <a:latin typeface="Sitka Small Semibold" pitchFamily="2" charset="0"/>
              </a:rPr>
              <a:t>Breadboard </a:t>
            </a:r>
          </a:p>
          <a:p>
            <a:pPr>
              <a:lnSpc>
                <a:spcPct val="150000"/>
              </a:lnSpc>
            </a:pPr>
            <a:r>
              <a:rPr lang="en-US" sz="1800" dirty="0">
                <a:latin typeface="Sitka Small Semibold" pitchFamily="2" charset="0"/>
              </a:rPr>
              <a:t>Solderless board for quick prototyping of circuits.</a:t>
            </a:r>
          </a:p>
          <a:p>
            <a:pPr>
              <a:lnSpc>
                <a:spcPct val="150000"/>
              </a:lnSpc>
            </a:pPr>
            <a:r>
              <a:rPr lang="en-US" sz="1800" dirty="0">
                <a:latin typeface="Sitka Small Semibold" pitchFamily="2" charset="0"/>
              </a:rPr>
              <a:t>Has power rails and terminal strips for easy connections.</a:t>
            </a:r>
          </a:p>
          <a:p>
            <a:pPr>
              <a:lnSpc>
                <a:spcPct val="150000"/>
              </a:lnSpc>
            </a:pPr>
            <a:r>
              <a:rPr lang="en-US" sz="1800" dirty="0">
                <a:latin typeface="Sitka Small Semibold" pitchFamily="2" charset="0"/>
              </a:rPr>
              <a:t>Allows adding/removing components without permanent wiring.</a:t>
            </a:r>
          </a:p>
          <a:p>
            <a:pPr>
              <a:lnSpc>
                <a:spcPct val="150000"/>
              </a:lnSpc>
            </a:pPr>
            <a:r>
              <a:rPr lang="en-US" sz="1800" dirty="0">
                <a:latin typeface="Sitka Small Semibold" pitchFamily="2" charset="0"/>
              </a:rPr>
              <a:t>Reusable and ideal for testing multiple sensors together.</a:t>
            </a:r>
          </a:p>
          <a:p>
            <a:endParaRPr lang="en-US" b="1" dirty="0">
              <a:latin typeface="Sitka Small Semibold" pitchFamily="2" charset="0"/>
            </a:endParaRPr>
          </a:p>
          <a:p>
            <a:endParaRPr lang="en-US" b="1" dirty="0">
              <a:latin typeface="Sitka Small Semibold" pitchFamily="2" charset="0"/>
            </a:endParaRPr>
          </a:p>
          <a:p>
            <a:pPr>
              <a:lnSpc>
                <a:spcPct val="150000"/>
              </a:lnSpc>
            </a:pPr>
            <a:r>
              <a:rPr lang="en-US" sz="2000" b="1" dirty="0">
                <a:latin typeface="Sitka Small Semibold" pitchFamily="2" charset="0"/>
              </a:rPr>
              <a:t>Jumper Wires </a:t>
            </a:r>
          </a:p>
          <a:p>
            <a:pPr>
              <a:lnSpc>
                <a:spcPct val="150000"/>
              </a:lnSpc>
            </a:pPr>
            <a:r>
              <a:rPr lang="en-US" sz="1800" dirty="0">
                <a:latin typeface="Sitka Small Semibold" pitchFamily="2" charset="0"/>
              </a:rPr>
              <a:t>Used to make temporary connections on a breadboard.</a:t>
            </a:r>
          </a:p>
          <a:p>
            <a:pPr>
              <a:lnSpc>
                <a:spcPct val="150000"/>
              </a:lnSpc>
            </a:pPr>
            <a:r>
              <a:rPr lang="en-US" sz="1800" dirty="0">
                <a:latin typeface="Sitka Small Semibold" pitchFamily="2" charset="0"/>
              </a:rPr>
              <a:t>Available as male-to-male, male-to-female, and </a:t>
            </a:r>
          </a:p>
          <a:p>
            <a:pPr marL="114300" indent="0">
              <a:lnSpc>
                <a:spcPct val="150000"/>
              </a:lnSpc>
              <a:buNone/>
            </a:pPr>
            <a:r>
              <a:rPr lang="en-US" sz="1800" dirty="0">
                <a:latin typeface="Sitka Small Semibold" pitchFamily="2" charset="0"/>
              </a:rPr>
              <a:t>       female-to-female.</a:t>
            </a:r>
          </a:p>
          <a:p>
            <a:pPr>
              <a:lnSpc>
                <a:spcPct val="150000"/>
              </a:lnSpc>
            </a:pPr>
            <a:r>
              <a:rPr lang="en-US" sz="1800" dirty="0">
                <a:latin typeface="Sitka Small Semibold" pitchFamily="2" charset="0"/>
              </a:rPr>
              <a:t>Color-coded wires help separate power, ground, and signals.</a:t>
            </a:r>
          </a:p>
          <a:p>
            <a:pPr>
              <a:lnSpc>
                <a:spcPct val="150000"/>
              </a:lnSpc>
            </a:pPr>
            <a:r>
              <a:rPr lang="en-US" sz="1800" dirty="0">
                <a:latin typeface="Sitka Small Semibold" pitchFamily="2" charset="0"/>
              </a:rPr>
              <a:t>Essential for linking sensors, modules, and microcontrollers.</a:t>
            </a:r>
          </a:p>
          <a:p>
            <a:endParaRPr lang="en-US" b="1" dirty="0">
              <a:latin typeface="Sitka Small Semibold" pitchFamily="2" charset="0"/>
            </a:endParaRPr>
          </a:p>
          <a:p>
            <a:endParaRPr lang="en-US" b="1" dirty="0">
              <a:latin typeface="Sitka Small Semibold" pitchFamily="2" charset="0"/>
            </a:endParaRPr>
          </a:p>
          <a:p>
            <a:endParaRPr lang="en-US" b="1" dirty="0">
              <a:latin typeface="Sitka Small Semibold" pitchFamily="2" charset="0"/>
            </a:endParaRPr>
          </a:p>
          <a:p>
            <a:endParaRPr lang="en-US" b="1" dirty="0">
              <a:latin typeface="Sitka Small Semibold" pitchFamily="2" charset="0"/>
            </a:endParaRPr>
          </a:p>
        </p:txBody>
      </p:sp>
      <p:sp>
        <p:nvSpPr>
          <p:cNvPr id="4" name="Slide Number Placeholder 3">
            <a:extLst>
              <a:ext uri="{FF2B5EF4-FFF2-40B4-BE49-F238E27FC236}">
                <a16:creationId xmlns:a16="http://schemas.microsoft.com/office/drawing/2014/main" id="{1C76363A-2D70-DD7E-984B-CCD5489977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1026" name="Picture 2" descr="MCBB400 MULTICOMP, Breadboard ...">
            <a:extLst>
              <a:ext uri="{FF2B5EF4-FFF2-40B4-BE49-F238E27FC236}">
                <a16:creationId xmlns:a16="http://schemas.microsoft.com/office/drawing/2014/main" id="{E1393FED-D9C4-9AE6-680D-DD0AE07C7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1900" y="844335"/>
            <a:ext cx="2552700"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umper Wires – M-F - ABL Kart">
            <a:extLst>
              <a:ext uri="{FF2B5EF4-FFF2-40B4-BE49-F238E27FC236}">
                <a16:creationId xmlns:a16="http://schemas.microsoft.com/office/drawing/2014/main" id="{93030042-A666-755C-EF79-A7DC47EFF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1475" y="321446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947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423C0-F721-2FFC-9A23-FFBA15B89F9E}"/>
              </a:ext>
            </a:extLst>
          </p:cNvPr>
          <p:cNvSpPr>
            <a:spLocks noGrp="1"/>
          </p:cNvSpPr>
          <p:nvPr>
            <p:ph type="title"/>
          </p:nvPr>
        </p:nvSpPr>
        <p:spPr>
          <a:xfrm>
            <a:off x="415600" y="328488"/>
            <a:ext cx="11360700" cy="763500"/>
          </a:xfrm>
        </p:spPr>
        <p:txBody>
          <a:bodyPr>
            <a:normAutofit/>
          </a:bodyPr>
          <a:lstStyle/>
          <a:p>
            <a:r>
              <a:rPr lang="en-US" sz="2400" dirty="0">
                <a:latin typeface="Sitka Small Semibold" pitchFamily="2" charset="0"/>
              </a:rPr>
              <a:t>Block Diagram</a:t>
            </a:r>
          </a:p>
        </p:txBody>
      </p:sp>
      <p:sp>
        <p:nvSpPr>
          <p:cNvPr id="4" name="Slide Number Placeholder 3">
            <a:extLst>
              <a:ext uri="{FF2B5EF4-FFF2-40B4-BE49-F238E27FC236}">
                <a16:creationId xmlns:a16="http://schemas.microsoft.com/office/drawing/2014/main" id="{01A8F800-22B4-3ECB-DE76-8D297D7D83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10" name="AutoShape 5">
            <a:extLst>
              <a:ext uri="{FF2B5EF4-FFF2-40B4-BE49-F238E27FC236}">
                <a16:creationId xmlns:a16="http://schemas.microsoft.com/office/drawing/2014/main" id="{D9A2C10A-04D1-4E4A-30E6-08E0779790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BDD39C21-6BDB-0F2D-B6D1-8C4FFCA6EFF1}"/>
              </a:ext>
            </a:extLst>
          </p:cNvPr>
          <p:cNvPicPr>
            <a:picLocks noChangeAspect="1"/>
          </p:cNvPicPr>
          <p:nvPr/>
        </p:nvPicPr>
        <p:blipFill>
          <a:blip r:embed="rId2"/>
          <a:stretch>
            <a:fillRect/>
          </a:stretch>
        </p:blipFill>
        <p:spPr>
          <a:xfrm>
            <a:off x="1296690" y="1320190"/>
            <a:ext cx="8544733" cy="4150711"/>
          </a:xfrm>
          <a:prstGeom prst="rect">
            <a:avLst/>
          </a:prstGeom>
        </p:spPr>
      </p:pic>
    </p:spTree>
    <p:extLst>
      <p:ext uri="{BB962C8B-B14F-4D97-AF65-F5344CB8AC3E}">
        <p14:creationId xmlns:p14="http://schemas.microsoft.com/office/powerpoint/2010/main" val="3885181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7067D-5CDD-7515-BB50-AEC78D4E59CD}"/>
              </a:ext>
            </a:extLst>
          </p:cNvPr>
          <p:cNvSpPr>
            <a:spLocks noGrp="1"/>
          </p:cNvSpPr>
          <p:nvPr>
            <p:ph type="title"/>
          </p:nvPr>
        </p:nvSpPr>
        <p:spPr/>
        <p:txBody>
          <a:bodyPr>
            <a:normAutofit/>
          </a:bodyPr>
          <a:lstStyle/>
          <a:p>
            <a:r>
              <a:rPr lang="en-US" sz="2400" dirty="0">
                <a:latin typeface="Sitka Small Semibold" pitchFamily="2" charset="0"/>
              </a:rPr>
              <a:t>                                                 Results</a:t>
            </a:r>
          </a:p>
        </p:txBody>
      </p:sp>
      <p:sp>
        <p:nvSpPr>
          <p:cNvPr id="3" name="Text Placeholder 2">
            <a:extLst>
              <a:ext uri="{FF2B5EF4-FFF2-40B4-BE49-F238E27FC236}">
                <a16:creationId xmlns:a16="http://schemas.microsoft.com/office/drawing/2014/main" id="{CFE025B4-ABE9-D2BA-CE5B-B761641A8333}"/>
              </a:ext>
            </a:extLst>
          </p:cNvPr>
          <p:cNvSpPr>
            <a:spLocks noGrp="1"/>
          </p:cNvSpPr>
          <p:nvPr>
            <p:ph type="body" idx="1"/>
          </p:nvPr>
        </p:nvSpPr>
        <p:spPr>
          <a:xfrm>
            <a:off x="648074" y="975117"/>
            <a:ext cx="3753444" cy="4555200"/>
          </a:xfrm>
        </p:spPr>
        <p:txBody>
          <a:bodyPr>
            <a:noAutofit/>
          </a:bodyPr>
          <a:lstStyle/>
          <a:p>
            <a:pPr marL="114300" indent="0">
              <a:buNone/>
            </a:pPr>
            <a:br>
              <a:rPr lang="en-US" sz="800" dirty="0">
                <a:latin typeface="Sitka Small Semibold" pitchFamily="2" charset="0"/>
              </a:rPr>
            </a:br>
            <a:endParaRPr lang="en-US" sz="800" dirty="0">
              <a:latin typeface="Sitka Small Semibold" pitchFamily="2" charset="0"/>
            </a:endParaRPr>
          </a:p>
        </p:txBody>
      </p:sp>
      <p:sp>
        <p:nvSpPr>
          <p:cNvPr id="4" name="Slide Number Placeholder 3">
            <a:extLst>
              <a:ext uri="{FF2B5EF4-FFF2-40B4-BE49-F238E27FC236}">
                <a16:creationId xmlns:a16="http://schemas.microsoft.com/office/drawing/2014/main" id="{FAD4C82D-DC19-FD57-AB77-1DED1E9203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8" name="Picture 7">
            <a:extLst>
              <a:ext uri="{FF2B5EF4-FFF2-40B4-BE49-F238E27FC236}">
                <a16:creationId xmlns:a16="http://schemas.microsoft.com/office/drawing/2014/main" id="{BAEEC7F4-7D65-736D-5B1C-92FF22A6FAF1}"/>
              </a:ext>
            </a:extLst>
          </p:cNvPr>
          <p:cNvPicPr>
            <a:picLocks noChangeAspect="1"/>
          </p:cNvPicPr>
          <p:nvPr/>
        </p:nvPicPr>
        <p:blipFill>
          <a:blip r:embed="rId2"/>
          <a:stretch>
            <a:fillRect/>
          </a:stretch>
        </p:blipFill>
        <p:spPr>
          <a:xfrm>
            <a:off x="713109" y="1244309"/>
            <a:ext cx="4917200" cy="4452046"/>
          </a:xfrm>
          <a:prstGeom prst="rect">
            <a:avLst/>
          </a:prstGeom>
        </p:spPr>
      </p:pic>
      <p:pic>
        <p:nvPicPr>
          <p:cNvPr id="10" name="Picture 9">
            <a:extLst>
              <a:ext uri="{FF2B5EF4-FFF2-40B4-BE49-F238E27FC236}">
                <a16:creationId xmlns:a16="http://schemas.microsoft.com/office/drawing/2014/main" id="{58DBA1D9-5C3C-1491-481F-C66FFCC14920}"/>
              </a:ext>
            </a:extLst>
          </p:cNvPr>
          <p:cNvPicPr>
            <a:picLocks noChangeAspect="1"/>
          </p:cNvPicPr>
          <p:nvPr/>
        </p:nvPicPr>
        <p:blipFill>
          <a:blip r:embed="rId3"/>
          <a:stretch>
            <a:fillRect/>
          </a:stretch>
        </p:blipFill>
        <p:spPr>
          <a:xfrm>
            <a:off x="5842861" y="1244309"/>
            <a:ext cx="5190726" cy="4452046"/>
          </a:xfrm>
          <a:prstGeom prst="rect">
            <a:avLst/>
          </a:prstGeom>
        </p:spPr>
      </p:pic>
    </p:spTree>
    <p:extLst>
      <p:ext uri="{BB962C8B-B14F-4D97-AF65-F5344CB8AC3E}">
        <p14:creationId xmlns:p14="http://schemas.microsoft.com/office/powerpoint/2010/main" val="1101580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838200" y="157073"/>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2132341" cy="5735761"/>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Rectangle 1">
            <a:extLst>
              <a:ext uri="{FF2B5EF4-FFF2-40B4-BE49-F238E27FC236}">
                <a16:creationId xmlns:a16="http://schemas.microsoft.com/office/drawing/2014/main" id="{CB592B4A-BE14-7DC0-4F64-2988BF11F18C}"/>
              </a:ext>
            </a:extLst>
          </p:cNvPr>
          <p:cNvSpPr>
            <a:spLocks noChangeArrowheads="1"/>
          </p:cNvSpPr>
          <p:nvPr/>
        </p:nvSpPr>
        <p:spPr bwMode="auto">
          <a:xfrm>
            <a:off x="412956" y="589830"/>
            <a:ext cx="11631229" cy="3781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Arial" panose="020B0604020202020204" pitchFamily="34" charset="0"/>
              <a:buChar char="•"/>
            </a:pPr>
            <a:r>
              <a:rPr lang="en-US" sz="1800" b="1" dirty="0">
                <a:latin typeface="Sitka Small Semibold" pitchFamily="2" charset="0"/>
              </a:rPr>
              <a:t>Conclusion</a:t>
            </a:r>
            <a:r>
              <a:rPr lang="en-US" sz="1800" dirty="0">
                <a:latin typeface="Sitka Small Semibold" pitchFamily="2" charset="0"/>
              </a:rPr>
              <a:t>:</a:t>
            </a:r>
          </a:p>
          <a:p>
            <a:pPr marL="285750" indent="-285750">
              <a:lnSpc>
                <a:spcPct val="150000"/>
              </a:lnSpc>
              <a:buFont typeface="Arial" panose="020B0604020202020204" pitchFamily="34" charset="0"/>
              <a:buChar char="•"/>
            </a:pPr>
            <a:r>
              <a:rPr lang="en-US" sz="1800" dirty="0">
                <a:latin typeface="Sitka Small Semibold" pitchFamily="2" charset="0"/>
              </a:rPr>
              <a:t>The proposed system successfully integrates </a:t>
            </a:r>
            <a:r>
              <a:rPr lang="en-US" sz="1800" b="1" dirty="0">
                <a:latin typeface="Sitka Small Semibold" pitchFamily="2" charset="0"/>
              </a:rPr>
              <a:t>Pulse Sensor + Arduino UNO+ </a:t>
            </a:r>
            <a:r>
              <a:rPr lang="en-US" sz="1800" b="1" dirty="0" err="1">
                <a:latin typeface="Sitka Small Semibold" pitchFamily="2" charset="0"/>
              </a:rPr>
              <a:t>NodeMCU</a:t>
            </a:r>
            <a:r>
              <a:rPr lang="en-US" sz="1800" b="1" dirty="0">
                <a:latin typeface="Sitka Small Semibold" pitchFamily="2" charset="0"/>
              </a:rPr>
              <a:t> + OLED + Cloud</a:t>
            </a:r>
            <a:r>
              <a:rPr lang="en-US" sz="1800" dirty="0">
                <a:latin typeface="Sitka Small Semibold" pitchFamily="2" charset="0"/>
              </a:rPr>
              <a:t> to provide real-time heartbeat monitoring.</a:t>
            </a:r>
          </a:p>
          <a:p>
            <a:pPr marL="285750" indent="-285750">
              <a:lnSpc>
                <a:spcPct val="150000"/>
              </a:lnSpc>
              <a:buFont typeface="Arial" panose="020B0604020202020204" pitchFamily="34" charset="0"/>
              <a:buChar char="•"/>
            </a:pPr>
            <a:r>
              <a:rPr lang="en-US" sz="1800" dirty="0">
                <a:latin typeface="Sitka Small Semibold" pitchFamily="2" charset="0"/>
              </a:rPr>
              <a:t>It overcomes the limitation of existing systems by enabling </a:t>
            </a:r>
            <a:r>
              <a:rPr lang="en-US" sz="1800" b="1" dirty="0">
                <a:latin typeface="Sitka Small Semibold" pitchFamily="2" charset="0"/>
              </a:rPr>
              <a:t>remote cloud access</a:t>
            </a:r>
            <a:r>
              <a:rPr lang="en-US" sz="1800" dirty="0">
                <a:latin typeface="Sitka Small Semibold" pitchFamily="2" charset="0"/>
              </a:rPr>
              <a:t> rather than just local display.</a:t>
            </a:r>
          </a:p>
          <a:p>
            <a:pPr marL="285750" indent="-285750">
              <a:lnSpc>
                <a:spcPct val="150000"/>
              </a:lnSpc>
              <a:buFont typeface="Arial" panose="020B0604020202020204" pitchFamily="34" charset="0"/>
              <a:buChar char="•"/>
            </a:pPr>
            <a:r>
              <a:rPr lang="en-US" sz="1800" dirty="0">
                <a:latin typeface="Sitka Small Semibold" pitchFamily="2" charset="0"/>
              </a:rPr>
              <a:t>Ensures </a:t>
            </a:r>
            <a:r>
              <a:rPr lang="en-US" sz="1800" b="1" dirty="0">
                <a:latin typeface="Sitka Small Semibold" pitchFamily="2" charset="0"/>
              </a:rPr>
              <a:t>safety and timely response</a:t>
            </a:r>
            <a:r>
              <a:rPr lang="en-US" sz="1800" dirty="0">
                <a:latin typeface="Sitka Small Semibold" pitchFamily="2" charset="0"/>
              </a:rPr>
              <a:t> for soldiers and workers in critical environments.</a:t>
            </a:r>
          </a:p>
          <a:p>
            <a:pPr marL="285750" indent="-285750">
              <a:lnSpc>
                <a:spcPct val="150000"/>
              </a:lnSpc>
              <a:buFont typeface="Arial" panose="020B0604020202020204" pitchFamily="34" charset="0"/>
              <a:buChar char="•"/>
            </a:pPr>
            <a:endParaRPr lang="en-US" sz="1800" dirty="0">
              <a:latin typeface="Sitka Small Semibold" pitchFamily="2" charset="0"/>
            </a:endParaRPr>
          </a:p>
          <a:p>
            <a:pPr>
              <a:lnSpc>
                <a:spcPct val="150000"/>
              </a:lnSpc>
            </a:pPr>
            <a:endParaRPr lang="en-US" sz="1800" dirty="0">
              <a:latin typeface="Sitka Small Semibold"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Sitka Small Semibold" pitchFamily="2" charset="0"/>
            </a:endParaRPr>
          </a:p>
        </p:txBody>
      </p:sp>
      <p:sp>
        <p:nvSpPr>
          <p:cNvPr id="7" name="TextBox 6">
            <a:extLst>
              <a:ext uri="{FF2B5EF4-FFF2-40B4-BE49-F238E27FC236}">
                <a16:creationId xmlns:a16="http://schemas.microsoft.com/office/drawing/2014/main" id="{657F1E2B-A5AD-954A-3A6F-20F63923384A}"/>
              </a:ext>
            </a:extLst>
          </p:cNvPr>
          <p:cNvSpPr txBox="1"/>
          <p:nvPr/>
        </p:nvSpPr>
        <p:spPr>
          <a:xfrm>
            <a:off x="412956" y="3121239"/>
            <a:ext cx="14759885" cy="33663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b="1" dirty="0">
                <a:latin typeface="Sitka Small Semibold" pitchFamily="2" charset="0"/>
              </a:rPr>
              <a:t>Future Work</a:t>
            </a:r>
            <a:r>
              <a:rPr lang="en-US" sz="1800" dirty="0">
                <a:latin typeface="Sitka Small Semibold" pitchFamily="2" charset="0"/>
              </a:rPr>
              <a:t>:</a:t>
            </a:r>
          </a:p>
          <a:p>
            <a:pPr marL="285750" indent="-285750">
              <a:lnSpc>
                <a:spcPct val="150000"/>
              </a:lnSpc>
              <a:buFont typeface="Arial" panose="020B0604020202020204" pitchFamily="34" charset="0"/>
              <a:buChar char="•"/>
            </a:pPr>
            <a:r>
              <a:rPr lang="en-US" sz="1800" dirty="0">
                <a:latin typeface="Sitka Small Semibold" pitchFamily="2" charset="0"/>
              </a:rPr>
              <a:t>Extend the system to support </a:t>
            </a:r>
            <a:r>
              <a:rPr lang="en-US" sz="1800" b="1" dirty="0">
                <a:latin typeface="Sitka Small Semibold" pitchFamily="2" charset="0"/>
              </a:rPr>
              <a:t>multiple users simultaneously</a:t>
            </a:r>
            <a:r>
              <a:rPr lang="en-US" sz="1800" dirty="0">
                <a:latin typeface="Sitka Small Semibold" pitchFamily="2" charset="0"/>
              </a:rPr>
              <a:t> (monitoring a </a:t>
            </a:r>
            <a:r>
              <a:rPr lang="en-US" sz="1800" dirty="0" err="1">
                <a:latin typeface="Sitka Small Semibold" pitchFamily="2" charset="0"/>
              </a:rPr>
              <a:t>fullsquad</a:t>
            </a:r>
            <a:r>
              <a:rPr lang="en-US" sz="1800" dirty="0">
                <a:latin typeface="Sitka Small Semibold" pitchFamily="2" charset="0"/>
              </a:rPr>
              <a:t>/unit).</a:t>
            </a:r>
          </a:p>
          <a:p>
            <a:pPr marL="285750" indent="-285750">
              <a:lnSpc>
                <a:spcPct val="150000"/>
              </a:lnSpc>
              <a:buFont typeface="Arial" panose="020B0604020202020204" pitchFamily="34" charset="0"/>
              <a:buChar char="•"/>
            </a:pPr>
            <a:r>
              <a:rPr lang="en-US" sz="1800" dirty="0">
                <a:latin typeface="Sitka Small Semibold" pitchFamily="2" charset="0"/>
              </a:rPr>
              <a:t>Improve </a:t>
            </a:r>
            <a:r>
              <a:rPr lang="en-US" sz="1800" b="1" dirty="0">
                <a:latin typeface="Sitka Small Semibold" pitchFamily="2" charset="0"/>
              </a:rPr>
              <a:t>cloud dashboard visualization</a:t>
            </a:r>
            <a:r>
              <a:rPr lang="en-US" sz="1800" dirty="0">
                <a:latin typeface="Sitka Small Semibold" pitchFamily="2" charset="0"/>
              </a:rPr>
              <a:t> (clearer waveforms, alerts, data history).</a:t>
            </a:r>
          </a:p>
          <a:p>
            <a:pPr marL="285750" indent="-285750">
              <a:lnSpc>
                <a:spcPct val="150000"/>
              </a:lnSpc>
              <a:buFont typeface="Arial" panose="020B0604020202020204" pitchFamily="34" charset="0"/>
              <a:buChar char="•"/>
            </a:pPr>
            <a:r>
              <a:rPr lang="en-US" sz="1800" dirty="0">
                <a:latin typeface="Sitka Small Semibold" pitchFamily="2" charset="0"/>
              </a:rPr>
              <a:t>Add </a:t>
            </a:r>
            <a:r>
              <a:rPr lang="en-US" sz="1800" b="1" dirty="0">
                <a:latin typeface="Sitka Small Semibold" pitchFamily="2" charset="0"/>
              </a:rPr>
              <a:t>offline storage</a:t>
            </a:r>
            <a:r>
              <a:rPr lang="en-US" sz="1800" dirty="0">
                <a:latin typeface="Sitka Small Semibold" pitchFamily="2" charset="0"/>
              </a:rPr>
              <a:t> on NodeMCU8266 (SD card) for backup when internet/cloud is unavailable.</a:t>
            </a:r>
          </a:p>
          <a:p>
            <a:pPr marL="285750" indent="-285750">
              <a:lnSpc>
                <a:spcPct val="150000"/>
              </a:lnSpc>
              <a:buFont typeface="Arial" panose="020B0604020202020204" pitchFamily="34" charset="0"/>
              <a:buChar char="•"/>
            </a:pPr>
            <a:r>
              <a:rPr lang="en-US" sz="1800" dirty="0">
                <a:latin typeface="Sitka Small Semibold" pitchFamily="2" charset="0"/>
              </a:rPr>
              <a:t>Enhance </a:t>
            </a:r>
            <a:r>
              <a:rPr lang="en-US" sz="1800" b="1" dirty="0">
                <a:latin typeface="Sitka Small Semibold" pitchFamily="2" charset="0"/>
              </a:rPr>
              <a:t>security &amp; encryption</a:t>
            </a:r>
            <a:r>
              <a:rPr lang="en-US" sz="1800" dirty="0">
                <a:latin typeface="Sitka Small Semibold" pitchFamily="2" charset="0"/>
              </a:rPr>
              <a:t> for soldier/worker health data.</a:t>
            </a:r>
          </a:p>
          <a:p>
            <a:pPr marL="285750" indent="-285750">
              <a:lnSpc>
                <a:spcPct val="150000"/>
              </a:lnSpc>
              <a:buFont typeface="Arial" panose="020B0604020202020204" pitchFamily="34" charset="0"/>
              <a:buChar char="•"/>
            </a:pPr>
            <a:r>
              <a:rPr lang="en-US" sz="1800" dirty="0">
                <a:latin typeface="Sitka Small Semibold" pitchFamily="2" charset="0"/>
              </a:rPr>
              <a:t>Miniaturize the hardware into a </a:t>
            </a:r>
            <a:r>
              <a:rPr lang="en-US" sz="1800" b="1" dirty="0">
                <a:latin typeface="Sitka Small Semibold" pitchFamily="2" charset="0"/>
              </a:rPr>
              <a:t>wearable device</a:t>
            </a:r>
            <a:r>
              <a:rPr lang="en-US" sz="1800" dirty="0">
                <a:latin typeface="Sitka Small Semibold" pitchFamily="2" charset="0"/>
              </a:rPr>
              <a:t> (armband).</a:t>
            </a:r>
          </a:p>
          <a:p>
            <a:pPr marL="285750" indent="-285750">
              <a:lnSpc>
                <a:spcPct val="150000"/>
              </a:lnSpc>
              <a:buFont typeface="Arial" panose="020B0604020202020204" pitchFamily="34" charset="0"/>
              <a:buChar char="•"/>
            </a:pPr>
            <a:endParaRPr lang="en-US" sz="1800" dirty="0">
              <a:latin typeface="Sitka Small Semibold" pitchFamily="2" charset="0"/>
            </a:endParaRPr>
          </a:p>
          <a:p>
            <a:pPr marL="285750" indent="-285750">
              <a:lnSpc>
                <a:spcPct val="150000"/>
              </a:lnSpc>
              <a:buFont typeface="Arial" panose="020B0604020202020204" pitchFamily="34" charset="0"/>
              <a:buChar char="•"/>
            </a:pPr>
            <a:endParaRPr lang="en-US" sz="1800" dirty="0">
              <a:latin typeface="Sitka Small Semibold" pitchFamily="2" charset="0"/>
            </a:endParaRPr>
          </a:p>
        </p:txBody>
      </p:sp>
    </p:spTree>
    <p:extLst>
      <p:ext uri="{BB962C8B-B14F-4D97-AF65-F5344CB8AC3E}">
        <p14:creationId xmlns:p14="http://schemas.microsoft.com/office/powerpoint/2010/main" val="567826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3733</TotalTime>
  <Words>1691</Words>
  <Application>Microsoft Office PowerPoint</Application>
  <PresentationFormat>Widescreen</PresentationFormat>
  <Paragraphs>169</Paragraphs>
  <Slides>15</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Montserrat Medium</vt:lpstr>
      <vt:lpstr>Plus Jakarta Sans</vt:lpstr>
      <vt:lpstr>Arial</vt:lpstr>
      <vt:lpstr>Calibri</vt:lpstr>
      <vt:lpstr>Aharoni</vt:lpstr>
      <vt:lpstr>Verdana</vt:lpstr>
      <vt:lpstr>Open Sans</vt:lpstr>
      <vt:lpstr>Montserrat</vt:lpstr>
      <vt:lpstr>Wingdings</vt:lpstr>
      <vt:lpstr>Sitka Small Semibold</vt:lpstr>
      <vt:lpstr>Sitka Text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                     Novelty (What’s New in our Work?)</vt:lpstr>
      <vt:lpstr>                Social Importance (Why Does It Matter?)</vt:lpstr>
      <vt:lpstr>PowerPoint Presentation</vt:lpstr>
      <vt:lpstr>PowerPoint Presentation</vt:lpstr>
      <vt:lpstr>PowerPoint Presentation</vt:lpstr>
      <vt:lpstr>Block Diagram</vt:lpstr>
      <vt:lpstr>                                                 Results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prajwalk248@gmail.com</cp:lastModifiedBy>
  <cp:revision>41</cp:revision>
  <dcterms:created xsi:type="dcterms:W3CDTF">2022-05-23T07:15:42Z</dcterms:created>
  <dcterms:modified xsi:type="dcterms:W3CDTF">2025-11-20T08:41:49Z</dcterms:modified>
</cp:coreProperties>
</file>